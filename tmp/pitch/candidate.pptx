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28e1ae239f4d60" /><Relationship Type="http://schemas.openxmlformats.org/officeDocument/2006/relationships/extended-properties" Target="/docProps/app.xml" Id="R0fbb2d6ba9364cbb" /><Relationship Type="http://schemas.openxmlformats.org/officeDocument/2006/relationships/officeDocument" Target="/ppt/presentation.xml" Id="Rbf11f3f198404b9f" /></Relationships>
</file>

<file path=ppt/presentation.xml><?xml version="1.0" encoding="utf-8"?>
<p:presentation xmlns:p="http://schemas.openxmlformats.org/presentationml/2006/main">
  <p:sldMasterIdLst>
    <p:sldMasterId xmlns:r="http://schemas.openxmlformats.org/officeDocument/2006/relationships" id="2147483648" r:id="Ra036ddcad03a45af"/>
  </p:sldMasterIdLst>
  <p:notesMasterIdLst>
    <p:notesMasterId xmlns:r="http://schemas.openxmlformats.org/officeDocument/2006/relationships" r:id="R276fcfb21f6344a5"/>
  </p:notesMasterIdLst>
  <p:sldIdLst>
    <p:sldId xmlns:r="http://schemas.openxmlformats.org/officeDocument/2006/relationships" id="256" r:id="Rd98898fc7ba448d3"/>
    <p:sldId xmlns:r="http://schemas.openxmlformats.org/officeDocument/2006/relationships" id="257" r:id="R6a1c14ea556d45ab"/>
    <p:sldId xmlns:r="http://schemas.openxmlformats.org/officeDocument/2006/relationships" id="258" r:id="R0e388328eac246e1"/>
    <p:sldId xmlns:r="http://schemas.openxmlformats.org/officeDocument/2006/relationships" id="259" r:id="R9f9ef31bb6154750"/>
    <p:sldId xmlns:r="http://schemas.openxmlformats.org/officeDocument/2006/relationships" id="260" r:id="Rd39dfadf19724a78"/>
    <p:sldId xmlns:r="http://schemas.openxmlformats.org/officeDocument/2006/relationships" id="261" r:id="R51b310b444ac4521"/>
    <p:sldId xmlns:r="http://schemas.openxmlformats.org/officeDocument/2006/relationships" id="262" r:id="R2b2d4a17a13a4f0e"/>
    <p:sldId xmlns:r="http://schemas.openxmlformats.org/officeDocument/2006/relationships" id="263" r:id="R34e2c030f81f4299"/>
    <p:sldId xmlns:r="http://schemas.openxmlformats.org/officeDocument/2006/relationships" id="264" r:id="Re14756a7825944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c33941e6f74f76" /><Relationship Type="http://schemas.openxmlformats.org/officeDocument/2006/relationships/slideMaster" Target="/ppt/slideMasters/slideMaster1.xml" Id="Ra036ddcad03a45af" /><Relationship Type="http://schemas.openxmlformats.org/officeDocument/2006/relationships/notesMaster" Target="/ppt/notesMasters/notesMaster1.xml" Id="R276fcfb21f6344a5" /><Relationship Type="http://schemas.openxmlformats.org/officeDocument/2006/relationships/presProps" Target="/ppt/presProps.xml" Id="R4339bd0d5e3844da" /><Relationship Type="http://schemas.openxmlformats.org/officeDocument/2006/relationships/tableStyles" Target="/ppt/tableStyles.xml" Id="R3cdf59421ac84b0b" /><Relationship Type="http://schemas.openxmlformats.org/officeDocument/2006/relationships/slide" Target="/ppt/slides/slide1.xml" Id="Rd98898fc7ba448d3" /><Relationship Type="http://schemas.openxmlformats.org/officeDocument/2006/relationships/slide" Target="/ppt/slides/slide2.xml" Id="R6a1c14ea556d45ab" /><Relationship Type="http://schemas.openxmlformats.org/officeDocument/2006/relationships/slide" Target="/ppt/slides/slide3.xml" Id="R0e388328eac246e1" /><Relationship Type="http://schemas.openxmlformats.org/officeDocument/2006/relationships/slide" Target="/ppt/slides/slide4.xml" Id="R9f9ef31bb6154750" /><Relationship Type="http://schemas.openxmlformats.org/officeDocument/2006/relationships/slide" Target="/ppt/slides/slide5.xml" Id="Rd39dfadf19724a78" /><Relationship Type="http://schemas.openxmlformats.org/officeDocument/2006/relationships/slide" Target="/ppt/slides/slide6.xml" Id="R51b310b444ac4521" /><Relationship Type="http://schemas.openxmlformats.org/officeDocument/2006/relationships/slide" Target="/ppt/slides/slide7.xml" Id="R2b2d4a17a13a4f0e" /><Relationship Type="http://schemas.openxmlformats.org/officeDocument/2006/relationships/slide" Target="/ppt/slides/slide8.xml" Id="R34e2c030f81f4299" /><Relationship Type="http://schemas.openxmlformats.org/officeDocument/2006/relationships/slide" Target="/ppt/slides/slide9.xml" Id="Re14756a7825944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17b60e506a48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21c139eebb4d4f" /><Relationship Type="http://schemas.openxmlformats.org/officeDocument/2006/relationships/notesMaster" Target="/ppt/notesMasters/notesMaster1.xml" Id="Rbe894ab10bd343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531bfbdcd247d3" /><Relationship Type="http://schemas.openxmlformats.org/officeDocument/2006/relationships/notesMaster" Target="/ppt/notesMasters/notesMaster1.xml" Id="Rd7fe9184bb1b44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2d6f5ababe40b1" /><Relationship Type="http://schemas.openxmlformats.org/officeDocument/2006/relationships/notesMaster" Target="/ppt/notesMasters/notesMaster1.xml" Id="R19a377ba0a2746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730ba2810e45d3" /><Relationship Type="http://schemas.openxmlformats.org/officeDocument/2006/relationships/notesMaster" Target="/ppt/notesMasters/notesMaster1.xml" Id="R6e1c3d71c37244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981dc8aa77428f" /><Relationship Type="http://schemas.openxmlformats.org/officeDocument/2006/relationships/notesMaster" Target="/ppt/notesMasters/notesMaster1.xml" Id="R525094ef11c548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8477b353b848a4" /><Relationship Type="http://schemas.openxmlformats.org/officeDocument/2006/relationships/notesMaster" Target="/ppt/notesMasters/notesMaster1.xml" Id="R0563f46a43d541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4ca45f2ca14b9d" /><Relationship Type="http://schemas.openxmlformats.org/officeDocument/2006/relationships/notesMaster" Target="/ppt/notesMasters/notesMaster1.xml" Id="R3d2948920a9746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69a315f7a045de" /><Relationship Type="http://schemas.openxmlformats.org/officeDocument/2006/relationships/notesMaster" Target="/ppt/notesMasters/notesMaster1.xml" Id="Rfc120a8b93a044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9f147686ed43f7" /><Relationship Type="http://schemas.openxmlformats.org/officeDocument/2006/relationships/notesMaster" Target="/ppt/notesMasters/notesMaster1.xml" Id="R05327dbc2e5d4a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MASQE</a:t>
            </a:r>
          </a:p>
          <a:p xmlns:a="http://schemas.openxmlformats.org/drawingml/2006/main">
            <a:r>
              <a:t>Timing: 0:00–0:15</a:t>
            </a:r>
          </a:p>
          <a:p xmlns:a="http://schemas.openxmlformats.org/drawingml/2006/main">
            <a:r>
              <a:t/>
            </a:r>
          </a:p>
          <a:p xmlns:a="http://schemas.openxmlformats.org/drawingml/2006/main">
            <a:r>
              <a:t>MASQE is an AI control layer for agents that can access data and use tools. It checks what an agent wants to do, applies the organisation’s policy, and records the outcome so people can understand and review it.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dashboard/public/masqe.svg</a:t>
            </a:r>
          </a:p>
          <a:p xmlns:a="http://schemas.openxmlformats.org/drawingml/2006/main">
            <a:r>
              <a:t>- /Users/oskar/Desktop/instruction.pdf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a:t>
            </a:r>
          </a:p>
          <a:p xmlns:a="http://schemas.openxmlformats.org/drawingml/2006/main">
            <a:r>
              <a:t>Timing: 0:15–0:40</a:t>
            </a:r>
          </a:p>
          <a:p xmlns:a="http://schemas.openxmlformats.org/drawingml/2006/main">
            <a:r>
              <a:t/>
            </a:r>
          </a:p>
          <a:p xmlns:a="http://schemas.openxmlformats.org/drawingml/2006/main">
            <a:r>
              <a:t>Consider a normal request: review this repository. The repository contains a README, and that README can contain instructions written by someone else. If the agent treats those instructions as authority, a code review can become an attempt to read credentials or send data outside the organisation. MASQE puts a policy decision between the agent’s request and the action.</a:t>
            </a:r>
          </a:p>
          <a:p xmlns:a="http://schemas.openxmlformats.org/drawingml/2006/main">
            <a:r>
              <a:t/>
            </a:r>
          </a:p>
          <a:p xmlns:a="http://schemas.openxmlformats.org/drawingml/2006/main">
            <a:r>
              <a:t>Sources:</a:t>
            </a:r>
          </a:p>
          <a:p xmlns:a="http://schemas.openxmlformats.org/drawingml/2006/main">
            <a:r>
              <a:t>- /Users/oskar/Desktop/instruction.pdf</a:t>
            </a:r>
          </a:p>
          <a:p xmlns:a="http://schemas.openxmlformats.org/drawingml/2006/main">
            <a:r>
              <a:t>- ai-guard/ghost.py</a:t>
            </a:r>
          </a:p>
          <a:p xmlns:a="http://schemas.openxmlformats.org/drawingml/2006/main">
            <a:r>
              <a:t>- tests/e2e_test.py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a:t>
            </a:r>
          </a:p>
          <a:p xmlns:a="http://schemas.openxmlformats.org/drawingml/2006/main">
            <a:r>
              <a:t>Timing: 0:40–1:15</a:t>
            </a:r>
          </a:p>
          <a:p xmlns:a="http://schemas.openxmlformats.org/drawingml/2006/main">
            <a:r>
              <a:t/>
            </a:r>
          </a:p>
          <a:p xmlns:a="http://schemas.openxmlformats.org/drawingml/2006/main">
            <a:r>
              <a:t>Applications connect through an API, a Python SDK or an MCP wrapper. The Go gateway owns the final decision. It checks identity, permissions, policy and budgets, and asks the Python AI Guard for semantic risk scores when needed. Approved requests reach tools or models, and the gateway checks their output before returning it. Untrusted shell work goes to Ghost Shell. Policy and threat feeds remain separate from application code.</a:t>
            </a:r>
          </a:p>
          <a:p xmlns:a="http://schemas.openxmlformats.org/drawingml/2006/main">
            <a:r>
              <a:t/>
            </a:r>
          </a:p>
          <a:p xmlns:a="http://schemas.openxmlformats.org/drawingml/2006/main">
            <a:r>
              <a:t>Sources:</a:t>
            </a:r>
          </a:p>
          <a:p xmlns:a="http://schemas.openxmlformats.org/drawingml/2006/main">
            <a:r>
              <a:t>- docs/architecture.svg</a:t>
            </a:r>
          </a:p>
          <a:p xmlns:a="http://schemas.openxmlformats.org/drawingml/2006/main">
            <a:r>
              <a:t>- gateway/gateway.go</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controls</a:t>
            </a:r>
          </a:p>
          <a:p xmlns:a="http://schemas.openxmlformats.org/drawingml/2006/main">
            <a:r>
              <a:t>Timing: 1:15–1:45</a:t>
            </a:r>
          </a:p>
          <a:p xmlns:a="http://schemas.openxmlformats.org/drawingml/2006/main">
            <a:r>
              <a:t/>
            </a:r>
          </a:p>
          <a:p xmlns:a="http://schemas.openxmlformats.org/drawingml/2006/main">
            <a:r>
              <a:t>The controls combine explicit rules with local semantic detection. Rules handle facts such as permissions, secrets and budget limits. The AI Guard adds signals for instruction override, task drift and malicious content in memory. The gateway can allow, redact, isolate, request approval, throttle or block. This gives us more than a single yes-or-no filter. Optional Polish PII detection uses the existing local model and needs Polish-language validation.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ai-guard/server.py</a:t>
            </a:r>
          </a:p>
          <a:p xmlns:a="http://schemas.openxmlformats.org/drawingml/2006/main">
            <a:r>
              <a:t>- ai-guard/ner_service.py</a:t>
            </a:r>
          </a:p>
          <a:p xmlns:a="http://schemas.openxmlformats.org/drawingml/2006/main">
            <a:r>
              <a:t>- policies/policy.yaml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configuration</a:t>
            </a:r>
          </a:p>
          <a:p xmlns:a="http://schemas.openxmlformats.org/drawingml/2006/main">
            <a:r>
              <a:t>Timing: 1:45–2:15</a:t>
            </a:r>
          </a:p>
          <a:p xmlns:a="http://schemas.openxmlformats.org/drawingml/2006/main">
            <a:r>
              <a:t/>
            </a:r>
          </a:p>
          <a:p xmlns:a="http://schemas.openxmlformats.org/drawingml/2006/main">
            <a:r>
              <a:t>The jury can change policy and threat feeds while the services are running. That includes permissions, allowed models and risk thresholds. Resource controls cover tokens, estimated cost, request rates, tool calls and runtime. Changes affect subsequent decisions, and invalid configuration keeps the last valid snapshot active. The console exposes the policy version and consumption, so the result of a configuration change can be observed rather than simply claimed.</a:t>
            </a:r>
          </a:p>
          <a:p xmlns:a="http://schemas.openxmlformats.org/drawingml/2006/main">
            <a:r>
              <a:t/>
            </a:r>
          </a:p>
          <a:p xmlns:a="http://schemas.openxmlformats.org/drawingml/2006/main">
            <a:r>
              <a:t>Sources:</a:t>
            </a:r>
          </a:p>
          <a:p xmlns:a="http://schemas.openxmlformats.org/drawingml/2006/main">
            <a:r>
              <a:t>- policies/policy.yaml</a:t>
            </a:r>
          </a:p>
          <a:p xmlns:a="http://schemas.openxmlformats.org/drawingml/2006/main">
            <a:r>
              <a:t>- policies/threat-feed.yaml</a:t>
            </a:r>
          </a:p>
          <a:p xmlns:a="http://schemas.openxmlformats.org/drawingml/2006/main">
            <a:r>
              <a:t>- tests/e2e_test.py</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Ghost Shell</a:t>
            </a:r>
          </a:p>
          <a:p xmlns:a="http://schemas.openxmlformats.org/drawingml/2006/main">
            <a:r>
              <a:t>Timing: 2:15–3:05</a:t>
            </a:r>
          </a:p>
          <a:p xmlns:a="http://schemas.openxmlformats.org/drawingml/2006/main">
            <a:r>
              <a:t/>
            </a:r>
          </a:p>
          <a:p xmlns:a="http://schemas.openxmlformats.org/drawingml/2006/main">
            <a:r>
              <a:t>Ghost Shell is the main demonstration. An agent reads a repository whose README contains a malicious setup instruction. It appears to download and run an installer, but our deterministic Python emulator only returns a simulated result. The agent then reads a fake environment file containing marked credentials called honeytokens. When it tries to upload that file, MASQE detects the markers and records a confirmed exfiltration attempt. No command runs on the host and no outbound network request is sent. The recorder links commands and responses with hashes, which lets us verify the chain. This is an analysis environment. Legitimate commands are simulated too, so it does not replace a real CI system.</a:t>
            </a:r>
          </a:p>
          <a:p xmlns:a="http://schemas.openxmlformats.org/drawingml/2006/main">
            <a:r>
              <a:t/>
            </a:r>
          </a:p>
          <a:p xmlns:a="http://schemas.openxmlformats.org/drawingml/2006/main">
            <a:r>
              <a:t>Sources:</a:t>
            </a:r>
          </a:p>
          <a:p xmlns:a="http://schemas.openxmlformats.org/drawingml/2006/main">
            <a:r>
              <a:t>- ai-guard/ghost.py</a:t>
            </a:r>
          </a:p>
          <a:p xmlns:a="http://schemas.openxmlformats.org/drawingml/2006/main">
            <a:r>
              <a:t>- ai-guard/test_ghost.py</a:t>
            </a:r>
          </a:p>
          <a:p xmlns:a="http://schemas.openxmlformats.org/drawingml/2006/main">
            <a:r>
              <a:t>- tests/e2e_test.py::test_20_ghost_shell_attack_and_isolation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console</a:t>
            </a:r>
          </a:p>
          <a:p xmlns:a="http://schemas.openxmlformats.org/drawingml/2006/main">
            <a:r>
              <a:t>Timing: 3:05–3:40</a:t>
            </a:r>
          </a:p>
          <a:p xmlns:a="http://schemas.openxmlformats.org/drawingml/2006/main">
            <a:r>
              <a:t/>
            </a:r>
          </a:p>
          <a:p xmlns:a="http://schemas.openxmlformats.org/drawingml/2006/main">
            <a:r>
              <a:t>The operations console serves both security and management. Security teams can move from an incident to the triggering controls and the event trail. Management can see resource use, budget status and latency, and export reports. An optional local language model adds plain-language explanations after the verdict, without deciding whether the action is allowed. That explainer currently answers in Polish. If its model is unavailable, MASQE reports that honestly instead of presenting a fabricated explanation.</a:t>
            </a:r>
          </a:p>
          <a:p xmlns:a="http://schemas.openxmlformats.org/drawingml/2006/main">
            <a:r>
              <a:t/>
            </a:r>
          </a:p>
          <a:p xmlns:a="http://schemas.openxmlformats.org/drawingml/2006/main">
            <a:r>
              <a:t>Sources:</a:t>
            </a:r>
          </a:p>
          <a:p xmlns:a="http://schemas.openxmlformats.org/drawingml/2006/main">
            <a:r>
              <a:t>- dashboard/src/App.jsx</a:t>
            </a:r>
          </a:p>
          <a:p xmlns:a="http://schemas.openxmlformats.org/drawingml/2006/main">
            <a:r>
              <a:t>- ai-guard/explain.py</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evidence</a:t>
            </a:r>
          </a:p>
          <a:p xmlns:a="http://schemas.openxmlformats.org/drawingml/2006/main">
            <a:r>
              <a:t>Timing: 3:40–4:10</a:t>
            </a:r>
          </a:p>
          <a:p xmlns:a="http://schemas.openxmlformats.org/drawingml/2006/main">
            <a:r>
              <a:t/>
            </a:r>
          </a:p>
          <a:p xmlns:a="http://schemas.openxmlformats.org/drawingml/2006/main">
            <a:r>
              <a:t>The verified full run passed 159 automated tests. The suite includes positive cases that must remain usable and negative cases that must trigger controls. End-to-end tests start the real Go and Python services and exercise HTTP requests, live configuration changes, integrations and failure behaviour. For evaluation, the jury can enter a new prompt, change a rule, and inspect the decision and telemetry. This is functional evidence, not a claim that every possible attack is detected.</a:t>
            </a:r>
          </a:p>
          <a:p xmlns:a="http://schemas.openxmlformats.org/drawingml/2006/main">
            <a:r>
              <a:t/>
            </a:r>
          </a:p>
          <a:p xmlns:a="http://schemas.openxmlformats.org/drawingml/2006/main">
            <a:r>
              <a:t>Sources:</a:t>
            </a:r>
          </a:p>
          <a:p xmlns:a="http://schemas.openxmlformats.org/drawingml/2006/main">
            <a:r>
              <a:t>- Verified make test run in the project review, 4 October 2026: 159 passed, 0 failed.</a:t>
            </a:r>
          </a:p>
          <a:p xmlns:a="http://schemas.openxmlformats.org/drawingml/2006/main">
            <a:r>
              <a:t>- Makefile</a:t>
            </a:r>
          </a:p>
          <a:p xmlns:a="http://schemas.openxmlformats.org/drawingml/2006/main">
            <a:r>
              <a:t>- tests/e2e_test.py</a:t>
            </a:r>
          </a:p>
          <a:p xmlns:a="http://schemas.openxmlformats.org/drawingml/2006/main">
            <a:r>
              <a:t>- ai-guard/test_ghost.py</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a:t>
            </a:r>
          </a:p>
          <a:p xmlns:a="http://schemas.openxmlformats.org/drawingml/2006/main">
            <a:r>
              <a:t>Timing: 4:10–4:35</a:t>
            </a:r>
          </a:p>
          <a:p xmlns:a="http://schemas.openxmlformats.org/drawingml/2006/main">
            <a:r>
              <a:t/>
            </a:r>
          </a:p>
          <a:p xmlns:a="http://schemas.openxmlformats.org/drawingml/2006/main">
            <a:r>
              <a:t>MASQE already combines a working local gateway, several integration paths, live policy and resource controls, and a console for reviewing decisions. Ghost Shell adds a safe way to observe an agent’s attack sequence. The prototype runs without a paid API. The next work is broader adversarial evaluation and production hardening, including live-model validation. The repository contains setup instructions and the test commands. We are ready to demonstrate the system and let the jury challenge it.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Makefile</a:t>
            </a:r>
          </a:p>
          <a:p xmlns:a="http://schemas.openxmlformats.org/drawingml/2006/main">
            <a:r>
              <a:t>- docker-compose.yml</a:t>
            </a:r>
          </a:p>
          <a:p xmlns:a="http://schemas.openxmlformats.org/drawingml/2006/main">
            <a:r>
              <a:t>- git remote origin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59d4eb731649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a2770b64e1441d" /><Relationship Type="http://schemas.openxmlformats.org/officeDocument/2006/relationships/slideLayout" Target="/ppt/slideLayouts/slideLayout1.xml" Id="R440456b5f73642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0456b5f73642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cae868b1dc4e64" /><Relationship Type="http://schemas.openxmlformats.org/officeDocument/2006/relationships/image" Target="/ppt/media/image.png" Id="Red3a520f9edc4f14" /><Relationship Type="http://schemas.openxmlformats.org/officeDocument/2006/relationships/notesSlide" Target="/ppt/notesSlides/notesSlide1.xml" Id="Rd54ee0fded264d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10306eb8af498f" /><Relationship Type="http://schemas.openxmlformats.org/officeDocument/2006/relationships/notesSlide" Target="/ppt/notesSlides/notesSlide2.xml" Id="R6a3f083b2d6348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a48eabca354880" /><Relationship Type="http://schemas.openxmlformats.org/officeDocument/2006/relationships/notesSlide" Target="/ppt/notesSlides/notesSlide3.xml" Id="R4914fdd6c15941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86f3d860e14da4" /><Relationship Type="http://schemas.openxmlformats.org/officeDocument/2006/relationships/notesSlide" Target="/ppt/notesSlides/notesSlide4.xml" Id="Rf1d7e2acc48c42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b191309c184c4b" /><Relationship Type="http://schemas.openxmlformats.org/officeDocument/2006/relationships/notesSlide" Target="/ppt/notesSlides/notesSlide5.xml" Id="R08cf087e70fa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ad9cc0779f4aa0" /><Relationship Type="http://schemas.openxmlformats.org/officeDocument/2006/relationships/notesSlide" Target="/ppt/notesSlides/notesSlide6.xml" Id="R7d2e612bd1324e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cd77c4efc14c9a" /><Relationship Type="http://schemas.openxmlformats.org/officeDocument/2006/relationships/notesSlide" Target="/ppt/notesSlides/notesSlide7.xml" Id="R25b374ad688c4b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c14e4d85454111" /><Relationship Type="http://schemas.openxmlformats.org/officeDocument/2006/relationships/notesSlide" Target="/ppt/notesSlides/notesSlide8.xml" Id="Rb1c9055ac82b49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a1a86b23034356" /><Relationship Type="http://schemas.openxmlformats.org/officeDocument/2006/relationships/notesSlide" Target="/ppt/notesSlides/notesSlide9.xml" Id="R7a0b6850b8444a3f" /></Relationships>
</file>

<file path=ppt/slides/slide1.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7E19C465-4473-4A2D-96F3-84C09F991817}"/>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E2E9DB"/>
                </a:solidFill>
                <a:latin typeface="Arial"/>
                <a:ea typeface="Arial"/>
                <a:cs typeface="Arial"/>
              </a:defRPr>
            </a:pPr>
            <a:r>
              <a:rPr sz="1200" b="0">
                <a:solidFill>
                  <a:srgbClr val="E2E9DB"/>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d3a520f9edc4f14"/>
          <a:stretch xmlns:a="http://schemas.openxmlformats.org/drawingml/2006/main"/>
        </p:blipFill>
        <p:spPr>
          <a:xfrm xmlns:a="http://schemas.openxmlformats.org/drawingml/2006/main">
            <a:off x="8420100" y="1809750"/>
            <a:ext cx="2476500" cy="2476500"/>
          </a:xfrm>
          <a:prstGeom xmlns:a="http://schemas.openxmlformats.org/drawingml/2006/main" prst="rect">
            <a:avLst/>
          </a:prstGeom>
        </p:spPr>
      </p:pic>
      <p:sp>
        <p:nvSpPr>
          <p:cNvPr id="3" name="MASQE">
            <a:extLst xmlns:a="http://schemas.openxmlformats.org/drawingml/2006/main">
              <a:ext uri="{FF2B5EF4-FFF2-40B4-BE49-F238E27FC236}">
                <a16:creationId xmlns:a16="http://schemas.microsoft.com/office/drawing/2014/main" id="{446B6E3E-4483-4E45-992B-659ADCECDBD3}"/>
              </a:ext>
            </a:extLst>
          </p:cNvPr>
          <p:cNvSpPr>
            <a:spLocks xmlns:a="http://schemas.openxmlformats.org/drawingml/2006/main" noGrp="1"/>
          </p:cNvSpPr>
          <p:nvPr/>
        </p:nvSpPr>
        <p:spPr>
          <a:xfrm xmlns:a="http://schemas.openxmlformats.org/drawingml/2006/main">
            <a:off x="609600" y="1562100"/>
            <a:ext cx="742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F6F6F1"/>
                </a:solidFill>
                <a:latin typeface="Arial"/>
                <a:ea typeface="Arial"/>
                <a:cs typeface="Arial"/>
              </a:defRPr>
            </a:pPr>
            <a:r>
              <a:rPr sz="7800" b="1">
                <a:solidFill>
                  <a:srgbClr val="F6F6F1"/>
                </a:solidFill>
                <a:latin typeface="Arial"/>
                <a:ea typeface="Arial"/>
                <a:cs typeface="Arial"/>
              </a:rPr>
              <a:t>MASQE</a:t>
            </a:r>
          </a:p>
        </p:txBody>
      </p:sp>
      <p:sp>
        <p:nvSpPr>
          <p:cNvPr id="4" name="AI Control Layer">
            <a:extLst xmlns:a="http://schemas.openxmlformats.org/drawingml/2006/main">
              <a:ext uri="{FF2B5EF4-FFF2-40B4-BE49-F238E27FC236}">
                <a16:creationId xmlns:a16="http://schemas.microsoft.com/office/drawing/2014/main" id="{9C219B9F-6593-4106-BF41-241BF133DE6F}"/>
              </a:ext>
            </a:extLst>
          </p:cNvPr>
          <p:cNvSpPr>
            <a:spLocks xmlns:a="http://schemas.openxmlformats.org/drawingml/2006/main" noGrp="1"/>
          </p:cNvSpPr>
          <p:nvPr/>
        </p:nvSpPr>
        <p:spPr>
          <a:xfrm xmlns:a="http://schemas.openxmlformats.org/drawingml/2006/main">
            <a:off x="657225" y="29527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E2E9DB"/>
                </a:solidFill>
                <a:latin typeface="Arial"/>
                <a:ea typeface="Arial"/>
                <a:cs typeface="Arial"/>
              </a:defRPr>
            </a:pPr>
            <a:r>
              <a:rPr sz="3225" b="0">
                <a:solidFill>
                  <a:srgbClr val="E2E9DB"/>
                </a:solidFill>
                <a:latin typeface="Arial"/>
                <a:ea typeface="Arial"/>
                <a:cs typeface="Arial"/>
              </a:rPr>
              <a:t>AI Control Layer</a:t>
            </a:r>
          </a:p>
        </p:txBody>
      </p:sp>
      <p:sp>
        <p:nvSpPr>
          <p:cNvPr id="5" name="Security and governance for agents that take ">
            <a:extLst xmlns:a="http://schemas.openxmlformats.org/drawingml/2006/main">
              <a:ext uri="{FF2B5EF4-FFF2-40B4-BE49-F238E27FC236}">
                <a16:creationId xmlns:a16="http://schemas.microsoft.com/office/drawing/2014/main" id="{C209771D-08F2-4123-962D-9BBE0601B93C}"/>
              </a:ext>
            </a:extLst>
          </p:cNvPr>
          <p:cNvSpPr>
            <a:spLocks xmlns:a="http://schemas.openxmlformats.org/drawingml/2006/main" noGrp="1"/>
          </p:cNvSpPr>
          <p:nvPr/>
        </p:nvSpPr>
        <p:spPr>
          <a:xfrm xmlns:a="http://schemas.openxmlformats.org/drawingml/2006/main">
            <a:off x="657225" y="397192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6F1"/>
                </a:solidFill>
                <a:latin typeface="Arial"/>
                <a:ea typeface="Arial"/>
                <a:cs typeface="Arial"/>
              </a:defRPr>
            </a:pPr>
            <a:r>
              <a:rPr sz="2325" b="0">
                <a:solidFill>
                  <a:srgbClr val="F6F6F1"/>
                </a:solidFill>
                <a:latin typeface="Arial"/>
                <a:ea typeface="Arial"/>
                <a:cs typeface="Arial"/>
              </a:rPr>
              <a:t>Security and governance for agents that take action</a:t>
            </a:r>
          </a:p>
        </p:txBody>
      </p:sp>
      <p:sp>
        <p:nvSpPr>
          <p:cNvPr id="6" name="HackYeah 2026">
            <a:extLst xmlns:a="http://schemas.openxmlformats.org/drawingml/2006/main">
              <a:ext uri="{FF2B5EF4-FFF2-40B4-BE49-F238E27FC236}">
                <a16:creationId xmlns:a16="http://schemas.microsoft.com/office/drawing/2014/main" id="{42DD33A1-3FD2-4414-9A53-F7047F2FAF21}"/>
              </a:ext>
            </a:extLst>
          </p:cNvPr>
          <p:cNvSpPr>
            <a:spLocks xmlns:a="http://schemas.openxmlformats.org/drawingml/2006/main" noGrp="1"/>
          </p:cNvSpPr>
          <p:nvPr/>
        </p:nvSpPr>
        <p:spPr>
          <a:xfrm xmlns:a="http://schemas.openxmlformats.org/drawingml/2006/main">
            <a:off x="657225" y="595312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2E9DB"/>
                </a:solidFill>
                <a:latin typeface="Arial"/>
                <a:ea typeface="Arial"/>
                <a:cs typeface="Arial"/>
              </a:defRPr>
            </a:pPr>
            <a:r>
              <a:rPr sz="1500" b="0">
                <a:solidFill>
                  <a:srgbClr val="E2E9DB"/>
                </a:solidFill>
                <a:latin typeface="Arial"/>
                <a:ea typeface="Arial"/>
                <a:cs typeface="Arial"/>
              </a:rPr>
              <a:t>HackYeah 2026</a:t>
            </a:r>
          </a:p>
        </p:txBody>
      </p:sp>
    </p:spTree>
    <p:extLst>
      <p:ext uri="{BB962C8B-B14F-4D97-AF65-F5344CB8AC3E}">
        <p14:creationId xmlns:p14="http://schemas.microsoft.com/office/powerpoint/2010/main" val="132850988"/>
      </p:ext>
    </p:extLst>
  </p:cSld>
</p:sld>
</file>

<file path=ppt/slides/slide2.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The risk begins when an agent takes action">
            <a:extLst xmlns:a="http://schemas.openxmlformats.org/drawingml/2006/main">
              <a:ext uri="{FF2B5EF4-FFF2-40B4-BE49-F238E27FC236}">
                <a16:creationId xmlns:a16="http://schemas.microsoft.com/office/drawing/2014/main" id="{A8A1378C-D5B5-45F6-B80C-412ECC24CFED}"/>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1D20"/>
                </a:solidFill>
                <a:latin typeface="Arial"/>
                <a:ea typeface="Arial"/>
                <a:cs typeface="Arial"/>
              </a:defRPr>
            </a:pPr>
            <a:r>
              <a:rPr sz="3450" b="1">
                <a:solidFill>
                  <a:srgbClr val="171D20"/>
                </a:solidFill>
                <a:latin typeface="Arial"/>
                <a:ea typeface="Arial"/>
                <a:cs typeface="Arial"/>
              </a:rPr>
              <a:t>The risk begins when an agent takes action</a:t>
            </a:r>
          </a:p>
        </p:txBody>
      </p:sp>
      <p:sp>
        <p:nvSpPr>
          <p:cNvPr id="2" name="02">
            <a:extLst xmlns:a="http://schemas.openxmlformats.org/drawingml/2006/main">
              <a:ext uri="{FF2B5EF4-FFF2-40B4-BE49-F238E27FC236}">
                <a16:creationId xmlns:a16="http://schemas.microsoft.com/office/drawing/2014/main" id="{2343A6F3-924C-489D-AA24-CF8A4E2FD61E}"/>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16B"/>
                </a:solidFill>
                <a:latin typeface="Arial"/>
                <a:ea typeface="Arial"/>
                <a:cs typeface="Arial"/>
              </a:defRPr>
            </a:pPr>
            <a:r>
              <a:rPr sz="1200" b="0">
                <a:solidFill>
                  <a:srgbClr val="66716B"/>
                </a:solidFill>
                <a:latin typeface="Arial"/>
                <a:ea typeface="Arial"/>
                <a:cs typeface="Arial"/>
              </a:rPr>
              <a:t>02</a:t>
            </a:r>
          </a:p>
        </p:txBody>
      </p:sp>
      <p:sp>
        <p:nvSpPr>
          <p:cNvPr id="3" name="“Review this repository.”">
            <a:extLst xmlns:a="http://schemas.openxmlformats.org/drawingml/2006/main">
              <a:ext uri="{FF2B5EF4-FFF2-40B4-BE49-F238E27FC236}">
                <a16:creationId xmlns:a16="http://schemas.microsoft.com/office/drawing/2014/main" id="{FF370401-6C79-4AD0-A0AD-68DE157173A5}"/>
              </a:ext>
            </a:extLst>
          </p:cNvPr>
          <p:cNvSpPr>
            <a:spLocks xmlns:a="http://schemas.openxmlformats.org/drawingml/2006/main" noGrp="1"/>
          </p:cNvSpPr>
          <p:nvPr/>
        </p:nvSpPr>
        <p:spPr>
          <a:xfrm xmlns:a="http://schemas.openxmlformats.org/drawingml/2006/main">
            <a:off x="6096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35735B"/>
                </a:solidFill>
                <a:latin typeface="Arial"/>
                <a:ea typeface="Arial"/>
                <a:cs typeface="Arial"/>
              </a:defRPr>
            </a:pPr>
            <a:r>
              <a:rPr sz="3300" b="1">
                <a:solidFill>
                  <a:srgbClr val="35735B"/>
                </a:solidFill>
                <a:latin typeface="Arial"/>
                <a:ea typeface="Arial"/>
                <a:cs typeface="Arial"/>
              </a:rPr>
              <a:t>“Review this repository.”</a:t>
            </a:r>
          </a:p>
        </p:txBody>
      </p:sp>
      <p:sp>
        <p:nvSpPr>
          <p:cNvPr id="4" name="A legitimate request can lead the agent into ">
            <a:extLst xmlns:a="http://schemas.openxmlformats.org/drawingml/2006/main">
              <a:ext uri="{FF2B5EF4-FFF2-40B4-BE49-F238E27FC236}">
                <a16:creationId xmlns:a16="http://schemas.microsoft.com/office/drawing/2014/main" id="{1D576745-FE63-4900-B7A0-5D1D725F3F77}"/>
              </a:ext>
            </a:extLst>
          </p:cNvPr>
          <p:cNvSpPr>
            <a:spLocks xmlns:a="http://schemas.openxmlformats.org/drawingml/2006/main" noGrp="1"/>
          </p:cNvSpPr>
          <p:nvPr/>
        </p:nvSpPr>
        <p:spPr>
          <a:xfrm xmlns:a="http://schemas.openxmlformats.org/drawingml/2006/main">
            <a:off x="609600" y="24193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1D20"/>
                </a:solidFill>
                <a:latin typeface="Arial"/>
                <a:ea typeface="Arial"/>
                <a:cs typeface="Arial"/>
              </a:defRPr>
            </a:pPr>
            <a:r>
              <a:rPr sz="2325" b="0">
                <a:solidFill>
                  <a:srgbClr val="171D20"/>
                </a:solidFill>
                <a:latin typeface="Arial"/>
                <a:ea typeface="Arial"/>
                <a:cs typeface="Arial"/>
              </a:rPr>
              <a:t>A legitimate request can lead the agent into instructions hidden in untrusted files.</a:t>
            </a:r>
          </a:p>
        </p:txBody>
      </p:sp>
      <p:sp>
        <p:nvSpPr>
          <p:cNvPr id="5" name="Untrusted input">
            <a:extLst xmlns:a="http://schemas.openxmlformats.org/drawingml/2006/main">
              <a:ext uri="{FF2B5EF4-FFF2-40B4-BE49-F238E27FC236}">
                <a16:creationId xmlns:a16="http://schemas.microsoft.com/office/drawing/2014/main" id="{227B492F-E077-4FEE-8B65-86062708C8B8}"/>
              </a:ext>
            </a:extLst>
          </p:cNvPr>
          <p:cNvSpPr>
            <a:spLocks xmlns:a="http://schemas.openxmlformats.org/drawingml/2006/main" noGrp="1"/>
          </p:cNvSpPr>
          <p:nvPr/>
        </p:nvSpPr>
        <p:spPr>
          <a:xfrm xmlns:a="http://schemas.openxmlformats.org/drawingml/2006/main">
            <a:off x="609600" y="38481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1D20"/>
                </a:solidFill>
                <a:latin typeface="Arial"/>
                <a:ea typeface="Arial"/>
                <a:cs typeface="Arial"/>
              </a:defRPr>
            </a:pPr>
            <a:r>
              <a:rPr sz="2175" b="1">
                <a:solidFill>
                  <a:srgbClr val="171D20"/>
                </a:solidFill>
                <a:latin typeface="Arial"/>
                <a:ea typeface="Arial"/>
                <a:cs typeface="Arial"/>
              </a:rPr>
              <a:t>Untrusted input</a:t>
            </a:r>
          </a:p>
        </p:txBody>
      </p:sp>
      <p:sp>
        <p:nvSpPr>
          <p:cNvPr id="6" name="README files, retrieved documents&#10;and tool re">
            <a:extLst xmlns:a="http://schemas.openxmlformats.org/drawingml/2006/main">
              <a:ext uri="{FF2B5EF4-FFF2-40B4-BE49-F238E27FC236}">
                <a16:creationId xmlns:a16="http://schemas.microsoft.com/office/drawing/2014/main" id="{92919255-3E70-4F16-9CEC-FB220506361B}"/>
              </a:ext>
            </a:extLst>
          </p:cNvPr>
          <p:cNvSpPr>
            <a:spLocks xmlns:a="http://schemas.openxmlformats.org/drawingml/2006/main" noGrp="1"/>
          </p:cNvSpPr>
          <p:nvPr/>
        </p:nvSpPr>
        <p:spPr>
          <a:xfrm xmlns:a="http://schemas.openxmlformats.org/drawingml/2006/main">
            <a:off x="609600" y="435292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README files, retrieved documents</a:t>
            </a:r>
          </a:p>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and tool responses</a:t>
            </a:r>
          </a:p>
        </p:txBody>
      </p:sp>
      <p:sp>
        <p:nvSpPr>
          <p:cNvPr id="7" name="Potential damage">
            <a:extLst xmlns:a="http://schemas.openxmlformats.org/drawingml/2006/main">
              <a:ext uri="{FF2B5EF4-FFF2-40B4-BE49-F238E27FC236}">
                <a16:creationId xmlns:a16="http://schemas.microsoft.com/office/drawing/2014/main" id="{ED38C5A1-96B7-4A59-BA7E-3FEA548020C8}"/>
              </a:ext>
            </a:extLst>
          </p:cNvPr>
          <p:cNvSpPr>
            <a:spLocks xmlns:a="http://schemas.openxmlformats.org/drawingml/2006/main" noGrp="1"/>
          </p:cNvSpPr>
          <p:nvPr/>
        </p:nvSpPr>
        <p:spPr>
          <a:xfrm xmlns:a="http://schemas.openxmlformats.org/drawingml/2006/main">
            <a:off x="6496050" y="3848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1D20"/>
                </a:solidFill>
                <a:latin typeface="Arial"/>
                <a:ea typeface="Arial"/>
                <a:cs typeface="Arial"/>
              </a:defRPr>
            </a:pPr>
            <a:r>
              <a:rPr sz="2175" b="1">
                <a:solidFill>
                  <a:srgbClr val="171D20"/>
                </a:solidFill>
                <a:latin typeface="Arial"/>
                <a:ea typeface="Arial"/>
                <a:cs typeface="Arial"/>
              </a:rPr>
              <a:t>Potential damage</a:t>
            </a:r>
          </a:p>
        </p:txBody>
      </p:sp>
      <p:sp>
        <p:nvSpPr>
          <p:cNvPr id="8" name="Stolen credentials, unsafe commands&#10;and uncon">
            <a:extLst xmlns:a="http://schemas.openxmlformats.org/drawingml/2006/main">
              <a:ext uri="{FF2B5EF4-FFF2-40B4-BE49-F238E27FC236}">
                <a16:creationId xmlns:a16="http://schemas.microsoft.com/office/drawing/2014/main" id="{28DDD292-92C7-4CF8-B022-88F0BA14DD94}"/>
              </a:ext>
            </a:extLst>
          </p:cNvPr>
          <p:cNvSpPr>
            <a:spLocks xmlns:a="http://schemas.openxmlformats.org/drawingml/2006/main" noGrp="1"/>
          </p:cNvSpPr>
          <p:nvPr/>
        </p:nvSpPr>
        <p:spPr>
          <a:xfrm xmlns:a="http://schemas.openxmlformats.org/drawingml/2006/main">
            <a:off x="6496050" y="43529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Stolen credentials, unsafe commands</a:t>
            </a:r>
          </a:p>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and uncontrolled resource use</a:t>
            </a:r>
          </a:p>
        </p:txBody>
      </p:sp>
    </p:spTree>
    <p:extLst>
      <p:ext uri="{BB962C8B-B14F-4D97-AF65-F5344CB8AC3E}">
        <p14:creationId xmlns:p14="http://schemas.microsoft.com/office/powerpoint/2010/main" val="552292926"/>
      </p:ext>
    </p:extLst>
  </p:cSld>
</p:sld>
</file>

<file path=ppt/slides/slide3.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21" name="One enforcement point">
            <a:extLst xmlns:a="http://schemas.openxmlformats.org/drawingml/2006/main">
              <a:ext uri="{FF2B5EF4-FFF2-40B4-BE49-F238E27FC236}">
                <a16:creationId xmlns:a16="http://schemas.microsoft.com/office/drawing/2014/main" id="{9841E164-E14D-4A2A-ADE7-AFE80AA8E9AC}"/>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1D20"/>
                </a:solidFill>
                <a:latin typeface="Arial"/>
                <a:ea typeface="Arial"/>
                <a:cs typeface="Arial"/>
              </a:defRPr>
            </a:pPr>
            <a:r>
              <a:rPr sz="3450" b="1">
                <a:solidFill>
                  <a:srgbClr val="171D20"/>
                </a:solidFill>
                <a:latin typeface="Arial"/>
                <a:ea typeface="Arial"/>
                <a:cs typeface="Arial"/>
              </a:rPr>
              <a:t>One enforcement point</a:t>
            </a:r>
          </a:p>
        </p:txBody>
      </p:sp>
      <p:sp>
        <p:nvSpPr>
          <p:cNvPr id="2" name="03">
            <a:extLst xmlns:a="http://schemas.openxmlformats.org/drawingml/2006/main">
              <a:ext uri="{FF2B5EF4-FFF2-40B4-BE49-F238E27FC236}">
                <a16:creationId xmlns:a16="http://schemas.microsoft.com/office/drawing/2014/main" id="{BC4B9A89-6A2A-44A5-B4CA-6CF69A363D56}"/>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16B"/>
                </a:solidFill>
                <a:latin typeface="Arial"/>
                <a:ea typeface="Arial"/>
                <a:cs typeface="Arial"/>
              </a:defRPr>
            </a:pPr>
            <a:r>
              <a:rPr sz="1200" b="0">
                <a:solidFill>
                  <a:srgbClr val="66716B"/>
                </a:solidFill>
                <a:latin typeface="Arial"/>
                <a:ea typeface="Arial"/>
                <a:cs typeface="Arial"/>
              </a:rPr>
              <a:t>03</a:t>
            </a:r>
          </a:p>
        </p:txBody>
      </p:sp>
      <p:sp>
        <p:nvSpPr>
          <p:cNvPr id="3" name="Apps and agents">
            <a:extLst xmlns:a="http://schemas.openxmlformats.org/drawingml/2006/main">
              <a:ext uri="{FF2B5EF4-FFF2-40B4-BE49-F238E27FC236}">
                <a16:creationId xmlns:a16="http://schemas.microsoft.com/office/drawing/2014/main" id="{FEC2F194-4933-4754-B7EA-E4FFE7B38E4C}"/>
              </a:ext>
            </a:extLst>
          </p:cNvPr>
          <p:cNvSpPr>
            <a:spLocks xmlns:a="http://schemas.openxmlformats.org/drawingml/2006/main" noGrp="1"/>
          </p:cNvSpPr>
          <p:nvPr/>
        </p:nvSpPr>
        <p:spPr>
          <a:xfrm xmlns:a="http://schemas.openxmlformats.org/drawingml/2006/main">
            <a:off x="609600" y="2457450"/>
            <a:ext cx="26670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66716B"/>
            </a:solidFill>
          </a:ln>
        </p:spPr>
      </p:sp>
      <p:sp>
        <p:nvSpPr>
          <p:cNvPr id="4" name="Apps and agents">
            <a:extLst xmlns:a="http://schemas.openxmlformats.org/drawingml/2006/main">
              <a:ext uri="{FF2B5EF4-FFF2-40B4-BE49-F238E27FC236}">
                <a16:creationId xmlns:a16="http://schemas.microsoft.com/office/drawing/2014/main" id="{73B7CDFA-BFFF-43E9-8EDF-30C4358A859A}"/>
              </a:ext>
            </a:extLst>
          </p:cNvPr>
          <p:cNvSpPr>
            <a:spLocks xmlns:a="http://schemas.openxmlformats.org/drawingml/2006/main" noGrp="1"/>
          </p:cNvSpPr>
          <p:nvPr/>
        </p:nvSpPr>
        <p:spPr>
          <a:xfrm xmlns:a="http://schemas.openxmlformats.org/drawingml/2006/main">
            <a:off x="819150" y="2647950"/>
            <a:ext cx="224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1D20"/>
                </a:solidFill>
                <a:latin typeface="Arial"/>
                <a:ea typeface="Arial"/>
                <a:cs typeface="Arial"/>
              </a:defRPr>
            </a:pPr>
            <a:r>
              <a:rPr sz="2025" b="1">
                <a:solidFill>
                  <a:srgbClr val="171D20"/>
                </a:solidFill>
                <a:latin typeface="Arial"/>
                <a:ea typeface="Arial"/>
                <a:cs typeface="Arial"/>
              </a:rPr>
              <a:t>Apps and agents</a:t>
            </a:r>
          </a:p>
        </p:txBody>
      </p:sp>
      <p:sp>
        <p:nvSpPr>
          <p:cNvPr id="5" name="API, Python SDK&#10;and MCP tools">
            <a:extLst xmlns:a="http://schemas.openxmlformats.org/drawingml/2006/main">
              <a:ext uri="{FF2B5EF4-FFF2-40B4-BE49-F238E27FC236}">
                <a16:creationId xmlns:a16="http://schemas.microsoft.com/office/drawing/2014/main" id="{F98285B3-255D-4B11-9386-CD5DA590797A}"/>
              </a:ext>
            </a:extLst>
          </p:cNvPr>
          <p:cNvSpPr>
            <a:spLocks xmlns:a="http://schemas.openxmlformats.org/drawingml/2006/main" noGrp="1"/>
          </p:cNvSpPr>
          <p:nvPr/>
        </p:nvSpPr>
        <p:spPr>
          <a:xfrm xmlns:a="http://schemas.openxmlformats.org/drawingml/2006/main">
            <a:off x="819150" y="3105150"/>
            <a:ext cx="2247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API, Python SDK</a:t>
            </a:r>
          </a:p>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and MCP tools</a:t>
            </a:r>
          </a:p>
        </p:txBody>
      </p:sp>
      <p:sp>
        <p:nvSpPr>
          <p:cNvPr id="6" name="Go gateway">
            <a:extLst xmlns:a="http://schemas.openxmlformats.org/drawingml/2006/main">
              <a:ext uri="{FF2B5EF4-FFF2-40B4-BE49-F238E27FC236}">
                <a16:creationId xmlns:a16="http://schemas.microsoft.com/office/drawing/2014/main" id="{116F3540-4D79-4787-B391-D5D0FBC7B995}"/>
              </a:ext>
            </a:extLst>
          </p:cNvPr>
          <p:cNvSpPr>
            <a:spLocks xmlns:a="http://schemas.openxmlformats.org/drawingml/2006/main" noGrp="1"/>
          </p:cNvSpPr>
          <p:nvPr/>
        </p:nvSpPr>
        <p:spPr>
          <a:xfrm xmlns:a="http://schemas.openxmlformats.org/drawingml/2006/main">
            <a:off x="4095750" y="2457450"/>
            <a:ext cx="3238500" cy="1581150"/>
          </a:xfrm>
          <a:prstGeom xmlns:a="http://schemas.openxmlformats.org/drawingml/2006/main" prst="rect">
            <a:avLst/>
          </a:prstGeom>
          <a:solidFill xmlns:a="http://schemas.openxmlformats.org/drawingml/2006/main">
            <a:srgbClr val="E2E9DB"/>
          </a:solidFill>
          <a:ln xmlns:a="http://schemas.openxmlformats.org/drawingml/2006/main" w="9525">
            <a:solidFill>
              <a:srgbClr val="66716B"/>
            </a:solidFill>
          </a:ln>
        </p:spPr>
      </p:sp>
      <p:sp>
        <p:nvSpPr>
          <p:cNvPr id="7" name="Go gateway">
            <a:extLst xmlns:a="http://schemas.openxmlformats.org/drawingml/2006/main">
              <a:ext uri="{FF2B5EF4-FFF2-40B4-BE49-F238E27FC236}">
                <a16:creationId xmlns:a16="http://schemas.microsoft.com/office/drawing/2014/main" id="{9DAE623E-0C33-490D-A776-2FC00EAA6943}"/>
              </a:ext>
            </a:extLst>
          </p:cNvPr>
          <p:cNvSpPr>
            <a:spLocks xmlns:a="http://schemas.openxmlformats.org/drawingml/2006/main" noGrp="1"/>
          </p:cNvSpPr>
          <p:nvPr/>
        </p:nvSpPr>
        <p:spPr>
          <a:xfrm xmlns:a="http://schemas.openxmlformats.org/drawingml/2006/main">
            <a:off x="4305300" y="2647950"/>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1D20"/>
                </a:solidFill>
                <a:latin typeface="Arial"/>
                <a:ea typeface="Arial"/>
                <a:cs typeface="Arial"/>
              </a:defRPr>
            </a:pPr>
            <a:r>
              <a:rPr sz="2025" b="1">
                <a:solidFill>
                  <a:srgbClr val="171D20"/>
                </a:solidFill>
                <a:latin typeface="Arial"/>
                <a:ea typeface="Arial"/>
                <a:cs typeface="Arial"/>
              </a:rPr>
              <a:t>Go gateway</a:t>
            </a:r>
          </a:p>
        </p:txBody>
      </p:sp>
      <p:sp>
        <p:nvSpPr>
          <p:cNvPr id="8" name="Identity, policy, budgets&#10;Final decision">
            <a:extLst xmlns:a="http://schemas.openxmlformats.org/drawingml/2006/main">
              <a:ext uri="{FF2B5EF4-FFF2-40B4-BE49-F238E27FC236}">
                <a16:creationId xmlns:a16="http://schemas.microsoft.com/office/drawing/2014/main" id="{E645A5F5-8713-4C04-B24D-2C101CAF1467}"/>
              </a:ext>
            </a:extLst>
          </p:cNvPr>
          <p:cNvSpPr>
            <a:spLocks xmlns:a="http://schemas.openxmlformats.org/drawingml/2006/main" noGrp="1"/>
          </p:cNvSpPr>
          <p:nvPr/>
        </p:nvSpPr>
        <p:spPr>
          <a:xfrm xmlns:a="http://schemas.openxmlformats.org/drawingml/2006/main">
            <a:off x="4305300" y="3105150"/>
            <a:ext cx="2819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Identity, policy, budgets</a:t>
            </a:r>
          </a:p>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Final decision</a:t>
            </a:r>
          </a:p>
        </p:txBody>
      </p:sp>
      <p:sp>
        <p:nvSpPr>
          <p:cNvPr id="9" name="Tools and models">
            <a:extLst xmlns:a="http://schemas.openxmlformats.org/drawingml/2006/main">
              <a:ext uri="{FF2B5EF4-FFF2-40B4-BE49-F238E27FC236}">
                <a16:creationId xmlns:a16="http://schemas.microsoft.com/office/drawing/2014/main" id="{E9FEFDF5-2C90-4FC9-BFD5-7F179FDB476A}"/>
              </a:ext>
            </a:extLst>
          </p:cNvPr>
          <p:cNvSpPr>
            <a:spLocks xmlns:a="http://schemas.openxmlformats.org/drawingml/2006/main" noGrp="1"/>
          </p:cNvSpPr>
          <p:nvPr/>
        </p:nvSpPr>
        <p:spPr>
          <a:xfrm xmlns:a="http://schemas.openxmlformats.org/drawingml/2006/main">
            <a:off x="8153400" y="2457450"/>
            <a:ext cx="34290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66716B"/>
            </a:solidFill>
          </a:ln>
        </p:spPr>
      </p:sp>
      <p:sp>
        <p:nvSpPr>
          <p:cNvPr id="10" name="Tools and models">
            <a:extLst xmlns:a="http://schemas.openxmlformats.org/drawingml/2006/main">
              <a:ext uri="{FF2B5EF4-FFF2-40B4-BE49-F238E27FC236}">
                <a16:creationId xmlns:a16="http://schemas.microsoft.com/office/drawing/2014/main" id="{BF46935D-3236-4D40-B79E-8C3D7195AAF6}"/>
              </a:ext>
            </a:extLst>
          </p:cNvPr>
          <p:cNvSpPr>
            <a:spLocks xmlns:a="http://schemas.openxmlformats.org/drawingml/2006/main" noGrp="1"/>
          </p:cNvSpPr>
          <p:nvPr/>
        </p:nvSpPr>
        <p:spPr>
          <a:xfrm xmlns:a="http://schemas.openxmlformats.org/drawingml/2006/main">
            <a:off x="8362950" y="2647950"/>
            <a:ext cx="3009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1D20"/>
                </a:solidFill>
                <a:latin typeface="Arial"/>
                <a:ea typeface="Arial"/>
                <a:cs typeface="Arial"/>
              </a:defRPr>
            </a:pPr>
            <a:r>
              <a:rPr sz="2025" b="1">
                <a:solidFill>
                  <a:srgbClr val="171D20"/>
                </a:solidFill>
                <a:latin typeface="Arial"/>
                <a:ea typeface="Arial"/>
                <a:cs typeface="Arial"/>
              </a:rPr>
              <a:t>Tools and models</a:t>
            </a:r>
          </a:p>
        </p:txBody>
      </p:sp>
      <p:sp>
        <p:nvSpPr>
          <p:cNvPr id="11" name="Approved action&#10;Output checked on return">
            <a:extLst xmlns:a="http://schemas.openxmlformats.org/drawingml/2006/main">
              <a:ext uri="{FF2B5EF4-FFF2-40B4-BE49-F238E27FC236}">
                <a16:creationId xmlns:a16="http://schemas.microsoft.com/office/drawing/2014/main" id="{C08ACE6D-A7D7-4083-ADB0-8B72B31E2588}"/>
              </a:ext>
            </a:extLst>
          </p:cNvPr>
          <p:cNvSpPr>
            <a:spLocks xmlns:a="http://schemas.openxmlformats.org/drawingml/2006/main" noGrp="1"/>
          </p:cNvSpPr>
          <p:nvPr/>
        </p:nvSpPr>
        <p:spPr>
          <a:xfrm xmlns:a="http://schemas.openxmlformats.org/drawingml/2006/main">
            <a:off x="8362950" y="3105150"/>
            <a:ext cx="3009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Approved action</a:t>
            </a:r>
          </a:p>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Output checked on return</a:t>
            </a:r>
          </a:p>
        </p:txBody>
      </p:sp>
      <p:sp>
        <p:nvSpPr>
          <p:cNvPr id="12" name="Python AI Guard">
            <a:extLst xmlns:a="http://schemas.openxmlformats.org/drawingml/2006/main">
              <a:ext uri="{FF2B5EF4-FFF2-40B4-BE49-F238E27FC236}">
                <a16:creationId xmlns:a16="http://schemas.microsoft.com/office/drawing/2014/main" id="{5BF308E2-15B2-4FD3-8464-CBA04F4F1300}"/>
              </a:ext>
            </a:extLst>
          </p:cNvPr>
          <p:cNvSpPr>
            <a:spLocks xmlns:a="http://schemas.openxmlformats.org/drawingml/2006/main" noGrp="1"/>
          </p:cNvSpPr>
          <p:nvPr/>
        </p:nvSpPr>
        <p:spPr>
          <a:xfrm xmlns:a="http://schemas.openxmlformats.org/drawingml/2006/main">
            <a:off x="4095750" y="4743450"/>
            <a:ext cx="3238500" cy="1266825"/>
          </a:xfrm>
          <a:prstGeom xmlns:a="http://schemas.openxmlformats.org/drawingml/2006/main" prst="rect">
            <a:avLst/>
          </a:prstGeom>
          <a:solidFill xmlns:a="http://schemas.openxmlformats.org/drawingml/2006/main">
            <a:srgbClr val="FFFFFF"/>
          </a:solidFill>
          <a:ln xmlns:a="http://schemas.openxmlformats.org/drawingml/2006/main" w="9525">
            <a:solidFill>
              <a:srgbClr val="66716B"/>
            </a:solidFill>
          </a:ln>
        </p:spPr>
      </p:sp>
      <p:sp>
        <p:nvSpPr>
          <p:cNvPr id="13" name="Python AI Guard">
            <a:extLst xmlns:a="http://schemas.openxmlformats.org/drawingml/2006/main">
              <a:ext uri="{FF2B5EF4-FFF2-40B4-BE49-F238E27FC236}">
                <a16:creationId xmlns:a16="http://schemas.microsoft.com/office/drawing/2014/main" id="{12402115-567A-422C-9B08-E95BB95DFFFB}"/>
              </a:ext>
            </a:extLst>
          </p:cNvPr>
          <p:cNvSpPr>
            <a:spLocks xmlns:a="http://schemas.openxmlformats.org/drawingml/2006/main" noGrp="1"/>
          </p:cNvSpPr>
          <p:nvPr/>
        </p:nvSpPr>
        <p:spPr>
          <a:xfrm xmlns:a="http://schemas.openxmlformats.org/drawingml/2006/main">
            <a:off x="4305300" y="4933950"/>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1D20"/>
                </a:solidFill>
                <a:latin typeface="Arial"/>
                <a:ea typeface="Arial"/>
                <a:cs typeface="Arial"/>
              </a:defRPr>
            </a:pPr>
            <a:r>
              <a:rPr sz="2025" b="1">
                <a:solidFill>
                  <a:srgbClr val="171D20"/>
                </a:solidFill>
                <a:latin typeface="Arial"/>
                <a:ea typeface="Arial"/>
                <a:cs typeface="Arial"/>
              </a:rPr>
              <a:t>Python AI Guard</a:t>
            </a:r>
          </a:p>
        </p:txBody>
      </p:sp>
      <p:sp>
        <p:nvSpPr>
          <p:cNvPr id="14" name="Semantic risk scores">
            <a:extLst xmlns:a="http://schemas.openxmlformats.org/drawingml/2006/main">
              <a:ext uri="{FF2B5EF4-FFF2-40B4-BE49-F238E27FC236}">
                <a16:creationId xmlns:a16="http://schemas.microsoft.com/office/drawing/2014/main" id="{ED97F99F-38D0-401D-8163-C71D313A4828}"/>
              </a:ext>
            </a:extLst>
          </p:cNvPr>
          <p:cNvSpPr>
            <a:spLocks xmlns:a="http://schemas.openxmlformats.org/drawingml/2006/main" noGrp="1"/>
          </p:cNvSpPr>
          <p:nvPr/>
        </p:nvSpPr>
        <p:spPr>
          <a:xfrm xmlns:a="http://schemas.openxmlformats.org/drawingml/2006/main">
            <a:off x="4305300" y="5391150"/>
            <a:ext cx="2819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716B"/>
                </a:solidFill>
                <a:latin typeface="Arial"/>
                <a:ea typeface="Arial"/>
                <a:cs typeface="Arial"/>
              </a:defRPr>
            </a:pPr>
            <a:r>
              <a:rPr sz="1650" b="0">
                <a:solidFill>
                  <a:srgbClr val="66716B"/>
                </a:solidFill>
                <a:latin typeface="Arial"/>
                <a:ea typeface="Arial"/>
                <a:cs typeface="Arial"/>
              </a:rPr>
              <a:t>Semantic risk scores</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3276600" y="3248025"/>
            <a:ext cx="819150" cy="0"/>
          </a:xfrm>
          <a:prstGeom xmlns:a="http://schemas.openxmlformats.org/drawingml/2006/main" prst="straightConnector1">
            <a:avLst/>
          </a:prstGeom>
          <a:ln xmlns:a="http://schemas.openxmlformats.org/drawingml/2006/main" w="23813">
            <a:solidFill>
              <a:srgbClr val="35735B"/>
            </a:solidFill>
            <a:headEnd type="arrow" w="med" len="med"/>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a:off x="7334250" y="3248025"/>
            <a:ext cx="819150" cy="0"/>
          </a:xfrm>
          <a:prstGeom xmlns:a="http://schemas.openxmlformats.org/drawingml/2006/main" prst="straightConnector1">
            <a:avLst/>
          </a:prstGeom>
          <a:ln xmlns:a="http://schemas.openxmlformats.org/drawingml/2006/main" w="23813">
            <a:solidFill>
              <a:srgbClr val="35735B"/>
            </a:solidFill>
            <a:headEnd type="arrow" w="med" len="med"/>
          </a:ln>
        </p:spPr>
      </p:cxnSp>
      <p:cxnSp>
        <p:nvCxnSpPr>
          <p:cNvPr id="37" name=""/>
          <p:cNvCxnSpPr>
            <a:stCxn xmlns:a="http://schemas.openxmlformats.org/drawingml/2006/main" id="6" idx="2"/>
            <a:endCxn xmlns:a="http://schemas.openxmlformats.org/drawingml/2006/main" id="12" idx="0"/>
          </p:cNvCxnSpPr>
          <p:nvPr/>
        </p:nvCxnSpPr>
        <p:spPr>
          <a:xfrm xmlns:a="http://schemas.openxmlformats.org/drawingml/2006/main">
            <a:off x="5715000" y="4038600"/>
            <a:ext cx="0" cy="704850"/>
          </a:xfrm>
          <a:prstGeom xmlns:a="http://schemas.openxmlformats.org/drawingml/2006/main" prst="straightConnector1">
            <a:avLst/>
          </a:prstGeom>
          <a:ln xmlns:a="http://schemas.openxmlformats.org/drawingml/2006/main" w="23813">
            <a:solidFill>
              <a:srgbClr val="35735B"/>
            </a:solidFill>
            <a:headEnd type="arrow" w="med" len="med"/>
          </a:ln>
        </p:spPr>
      </p:cxnSp>
      <p:sp>
        <p:nvSpPr>
          <p:cNvPr id="18" name="Central policy and threat feeds">
            <a:extLst xmlns:a="http://schemas.openxmlformats.org/drawingml/2006/main">
              <a:ext uri="{FF2B5EF4-FFF2-40B4-BE49-F238E27FC236}">
                <a16:creationId xmlns:a16="http://schemas.microsoft.com/office/drawing/2014/main" id="{CECC2206-49C4-438C-9802-B85F1FE9BD0C}"/>
              </a:ext>
            </a:extLst>
          </p:cNvPr>
          <p:cNvSpPr>
            <a:spLocks xmlns:a="http://schemas.openxmlformats.org/drawingml/2006/main" noGrp="1"/>
          </p:cNvSpPr>
          <p:nvPr/>
        </p:nvSpPr>
        <p:spPr>
          <a:xfrm xmlns:a="http://schemas.openxmlformats.org/drawingml/2006/main">
            <a:off x="4095750" y="15906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735B"/>
                </a:solidFill>
                <a:latin typeface="Arial"/>
                <a:ea typeface="Arial"/>
                <a:cs typeface="Arial"/>
              </a:defRPr>
            </a:pPr>
            <a:r>
              <a:rPr sz="1950" b="1">
                <a:solidFill>
                  <a:srgbClr val="35735B"/>
                </a:solidFill>
                <a:latin typeface="Arial"/>
                <a:ea typeface="Arial"/>
                <a:cs typeface="Arial"/>
              </a:rPr>
              <a:t>Central policy and threat feeds</a:t>
            </a:r>
          </a:p>
        </p:txBody>
      </p:sp>
      <p:sp>
        <p:nvSpPr>
          <p:cNvPr id="19" name="Every decision produces an audit event.">
            <a:extLst xmlns:a="http://schemas.openxmlformats.org/drawingml/2006/main">
              <a:ext uri="{FF2B5EF4-FFF2-40B4-BE49-F238E27FC236}">
                <a16:creationId xmlns:a16="http://schemas.microsoft.com/office/drawing/2014/main" id="{E4710FC9-E973-4840-9675-8F0AEF3D7847}"/>
              </a:ext>
            </a:extLst>
          </p:cNvPr>
          <p:cNvSpPr>
            <a:spLocks xmlns:a="http://schemas.openxmlformats.org/drawingml/2006/main" noGrp="1"/>
          </p:cNvSpPr>
          <p:nvPr/>
        </p:nvSpPr>
        <p:spPr>
          <a:xfrm xmlns:a="http://schemas.openxmlformats.org/drawingml/2006/main">
            <a:off x="609600" y="54102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16B"/>
                </a:solidFill>
                <a:latin typeface="Arial"/>
                <a:ea typeface="Arial"/>
                <a:cs typeface="Arial"/>
              </a:defRPr>
            </a:pPr>
            <a:r>
              <a:rPr sz="1800" b="0">
                <a:solidFill>
                  <a:srgbClr val="66716B"/>
                </a:solidFill>
                <a:latin typeface="Arial"/>
                <a:ea typeface="Arial"/>
                <a:cs typeface="Arial"/>
              </a:rPr>
              <a:t>Every decision produces an audit event.</a:t>
            </a:r>
          </a:p>
        </p:txBody>
      </p:sp>
      <p:sp>
        <p:nvSpPr>
          <p:cNvPr id="20" name="Ghost Shell receives&#10;untrusted shell work.">
            <a:extLst xmlns:a="http://schemas.openxmlformats.org/drawingml/2006/main">
              <a:ext uri="{FF2B5EF4-FFF2-40B4-BE49-F238E27FC236}">
                <a16:creationId xmlns:a16="http://schemas.microsoft.com/office/drawing/2014/main" id="{3370A2AB-0E15-452D-9D78-45A7B049661B}"/>
              </a:ext>
            </a:extLst>
          </p:cNvPr>
          <p:cNvSpPr>
            <a:spLocks xmlns:a="http://schemas.openxmlformats.org/drawingml/2006/main" noGrp="1"/>
          </p:cNvSpPr>
          <p:nvPr/>
        </p:nvSpPr>
        <p:spPr>
          <a:xfrm xmlns:a="http://schemas.openxmlformats.org/drawingml/2006/main">
            <a:off x="8153400" y="48958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5735B"/>
                </a:solidFill>
                <a:latin typeface="Arial"/>
                <a:ea typeface="Arial"/>
                <a:cs typeface="Arial"/>
              </a:defRPr>
            </a:pPr>
            <a:r>
              <a:rPr sz="1950" b="1">
                <a:solidFill>
                  <a:srgbClr val="35735B"/>
                </a:solidFill>
                <a:latin typeface="Arial"/>
                <a:ea typeface="Arial"/>
                <a:cs typeface="Arial"/>
              </a:rPr>
              <a:t>Ghost Shell receives</a:t>
            </a:r>
          </a:p>
          <a:p xmlns:a="http://schemas.openxmlformats.org/drawingml/2006/main">
            <a:pPr algn="l">
              <a:defRPr sz="1950" b="1">
                <a:solidFill>
                  <a:srgbClr val="35735B"/>
                </a:solidFill>
                <a:latin typeface="Arial"/>
                <a:ea typeface="Arial"/>
                <a:cs typeface="Arial"/>
              </a:defRPr>
            </a:pPr>
            <a:r>
              <a:rPr sz="1950" b="1">
                <a:solidFill>
                  <a:srgbClr val="35735B"/>
                </a:solidFill>
                <a:latin typeface="Arial"/>
                <a:ea typeface="Arial"/>
                <a:cs typeface="Arial"/>
              </a:rPr>
              <a:t>untrusted shell work.</a:t>
            </a:r>
          </a:p>
        </p:txBody>
      </p:sp>
    </p:spTree>
    <p:extLst>
      <p:ext uri="{BB962C8B-B14F-4D97-AF65-F5344CB8AC3E}">
        <p14:creationId xmlns:p14="http://schemas.microsoft.com/office/powerpoint/2010/main" val="216390743"/>
      </p:ext>
    </p:extLst>
  </p:cSld>
</p:sld>
</file>

<file path=ppt/slides/slide4.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Rules and AI assess different risks">
            <a:extLst xmlns:a="http://schemas.openxmlformats.org/drawingml/2006/main">
              <a:ext uri="{FF2B5EF4-FFF2-40B4-BE49-F238E27FC236}">
                <a16:creationId xmlns:a16="http://schemas.microsoft.com/office/drawing/2014/main" id="{2C18BF7C-9B47-4B3B-8AD7-A4BAD3C4D4E2}"/>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1D20"/>
                </a:solidFill>
                <a:latin typeface="Arial"/>
                <a:ea typeface="Arial"/>
                <a:cs typeface="Arial"/>
              </a:defRPr>
            </a:pPr>
            <a:r>
              <a:rPr sz="3450" b="1">
                <a:solidFill>
                  <a:srgbClr val="171D20"/>
                </a:solidFill>
                <a:latin typeface="Arial"/>
                <a:ea typeface="Arial"/>
                <a:cs typeface="Arial"/>
              </a:rPr>
              <a:t>Rules and AI assess different risks</a:t>
            </a:r>
          </a:p>
        </p:txBody>
      </p:sp>
      <p:sp>
        <p:nvSpPr>
          <p:cNvPr id="2" name="04">
            <a:extLst xmlns:a="http://schemas.openxmlformats.org/drawingml/2006/main">
              <a:ext uri="{FF2B5EF4-FFF2-40B4-BE49-F238E27FC236}">
                <a16:creationId xmlns:a16="http://schemas.microsoft.com/office/drawing/2014/main" id="{3EBAD11B-53DD-4D39-A025-73728BD50272}"/>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16B"/>
                </a:solidFill>
                <a:latin typeface="Arial"/>
                <a:ea typeface="Arial"/>
                <a:cs typeface="Arial"/>
              </a:defRPr>
            </a:pPr>
            <a:r>
              <a:rPr sz="1200" b="0">
                <a:solidFill>
                  <a:srgbClr val="66716B"/>
                </a:solidFill>
                <a:latin typeface="Arial"/>
                <a:ea typeface="Arial"/>
                <a:cs typeface="Arial"/>
              </a:rPr>
              <a:t>04</a:t>
            </a:r>
          </a:p>
        </p:txBody>
      </p:sp>
      <p:sp>
        <p:nvSpPr>
          <p:cNvPr id="3" name="Deterministic controls">
            <a:extLst xmlns:a="http://schemas.openxmlformats.org/drawingml/2006/main">
              <a:ext uri="{FF2B5EF4-FFF2-40B4-BE49-F238E27FC236}">
                <a16:creationId xmlns:a16="http://schemas.microsoft.com/office/drawing/2014/main" id="{F4073AE3-197F-4DA9-9E60-A5954D530917}"/>
              </a:ext>
            </a:extLst>
          </p:cNvPr>
          <p:cNvSpPr>
            <a:spLocks xmlns:a="http://schemas.openxmlformats.org/drawingml/2006/main" noGrp="1"/>
          </p:cNvSpPr>
          <p:nvPr/>
        </p:nvSpPr>
        <p:spPr>
          <a:xfrm xmlns:a="http://schemas.openxmlformats.org/drawingml/2006/main">
            <a:off x="609600" y="1543050"/>
            <a:ext cx="500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5735B"/>
                </a:solidFill>
                <a:latin typeface="Arial"/>
                <a:ea typeface="Arial"/>
                <a:cs typeface="Arial"/>
              </a:defRPr>
            </a:pPr>
            <a:r>
              <a:rPr sz="2400" b="1">
                <a:solidFill>
                  <a:srgbClr val="35735B"/>
                </a:solidFill>
                <a:latin typeface="Arial"/>
                <a:ea typeface="Arial"/>
                <a:cs typeface="Arial"/>
              </a:rPr>
              <a:t>Deterministic controls</a:t>
            </a:r>
          </a:p>
        </p:txBody>
      </p:sp>
      <p:sp>
        <p:nvSpPr>
          <p:cNvPr id="4" name="Who may act, on which resource?&#10;Does the requ">
            <a:extLst xmlns:a="http://schemas.openxmlformats.org/drawingml/2006/main">
              <a:ext uri="{FF2B5EF4-FFF2-40B4-BE49-F238E27FC236}">
                <a16:creationId xmlns:a16="http://schemas.microsoft.com/office/drawing/2014/main" id="{E2DE580B-4F2A-44BD-8A87-18A8838378E4}"/>
              </a:ext>
            </a:extLst>
          </p:cNvPr>
          <p:cNvSpPr>
            <a:spLocks xmlns:a="http://schemas.openxmlformats.org/drawingml/2006/main" noGrp="1"/>
          </p:cNvSpPr>
          <p:nvPr/>
        </p:nvSpPr>
        <p:spPr>
          <a:xfrm xmlns:a="http://schemas.openxmlformats.org/drawingml/2006/main">
            <a:off x="609600" y="2247900"/>
            <a:ext cx="5000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Who may act, on which resource?</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Does the request contain a secret?</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Has it exceeded its budget?</a:t>
            </a:r>
          </a:p>
        </p:txBody>
      </p:sp>
      <p:sp>
        <p:nvSpPr>
          <p:cNvPr id="5" name="Semantic controls">
            <a:extLst xmlns:a="http://schemas.openxmlformats.org/drawingml/2006/main">
              <a:ext uri="{FF2B5EF4-FFF2-40B4-BE49-F238E27FC236}">
                <a16:creationId xmlns:a16="http://schemas.microsoft.com/office/drawing/2014/main" id="{843793DA-54F2-43C8-B9C4-AE68C75334A9}"/>
              </a:ext>
            </a:extLst>
          </p:cNvPr>
          <p:cNvSpPr>
            <a:spLocks xmlns:a="http://schemas.openxmlformats.org/drawingml/2006/main" noGrp="1"/>
          </p:cNvSpPr>
          <p:nvPr/>
        </p:nvSpPr>
        <p:spPr>
          <a:xfrm xmlns:a="http://schemas.openxmlformats.org/drawingml/2006/main">
            <a:off x="6477000" y="1543050"/>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5735B"/>
                </a:solidFill>
                <a:latin typeface="Arial"/>
                <a:ea typeface="Arial"/>
                <a:cs typeface="Arial"/>
              </a:defRPr>
            </a:pPr>
            <a:r>
              <a:rPr sz="2400" b="1">
                <a:solidFill>
                  <a:srgbClr val="35735B"/>
                </a:solidFill>
                <a:latin typeface="Arial"/>
                <a:ea typeface="Arial"/>
                <a:cs typeface="Arial"/>
              </a:rPr>
              <a:t>Semantic controls</a:t>
            </a:r>
          </a:p>
        </p:txBody>
      </p:sp>
      <p:sp>
        <p:nvSpPr>
          <p:cNvPr id="6" name="Does the text try to override instructions?&#10;D">
            <a:extLst xmlns:a="http://schemas.openxmlformats.org/drawingml/2006/main">
              <a:ext uri="{FF2B5EF4-FFF2-40B4-BE49-F238E27FC236}">
                <a16:creationId xmlns:a16="http://schemas.microsoft.com/office/drawing/2014/main" id="{A3AE8EEB-648C-426B-8931-2010CBDD8F8E}"/>
              </a:ext>
            </a:extLst>
          </p:cNvPr>
          <p:cNvSpPr>
            <a:spLocks xmlns:a="http://schemas.openxmlformats.org/drawingml/2006/main" noGrp="1"/>
          </p:cNvSpPr>
          <p:nvPr/>
        </p:nvSpPr>
        <p:spPr>
          <a:xfrm xmlns:a="http://schemas.openxmlformats.org/drawingml/2006/main">
            <a:off x="6477000" y="2247900"/>
            <a:ext cx="51054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Does the text try to override instructions?</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Does the action drift from the task?</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Does it try to poison agent memory?</a:t>
            </a:r>
          </a:p>
        </p:txBody>
      </p:sp>
      <p:sp>
        <p:nvSpPr>
          <p:cNvPr id="7" name="Proportionate responses">
            <a:extLst xmlns:a="http://schemas.openxmlformats.org/drawingml/2006/main">
              <a:ext uri="{FF2B5EF4-FFF2-40B4-BE49-F238E27FC236}">
                <a16:creationId xmlns:a16="http://schemas.microsoft.com/office/drawing/2014/main" id="{303E6A5D-9CB5-4066-90F3-4C8C69D37E11}"/>
              </a:ext>
            </a:extLst>
          </p:cNvPr>
          <p:cNvSpPr>
            <a:spLocks xmlns:a="http://schemas.openxmlformats.org/drawingml/2006/main" noGrp="1"/>
          </p:cNvSpPr>
          <p:nvPr/>
        </p:nvSpPr>
        <p:spPr>
          <a:xfrm xmlns:a="http://schemas.openxmlformats.org/drawingml/2006/main">
            <a:off x="609600" y="453390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1D20"/>
                </a:solidFill>
                <a:latin typeface="Arial"/>
                <a:ea typeface="Arial"/>
                <a:cs typeface="Arial"/>
              </a:defRPr>
            </a:pPr>
            <a:r>
              <a:rPr sz="2325" b="1">
                <a:solidFill>
                  <a:srgbClr val="171D20"/>
                </a:solidFill>
                <a:latin typeface="Arial"/>
                <a:ea typeface="Arial"/>
                <a:cs typeface="Arial"/>
              </a:rPr>
              <a:t>Proportionate responses</a:t>
            </a:r>
          </a:p>
        </p:txBody>
      </p:sp>
      <p:sp>
        <p:nvSpPr>
          <p:cNvPr id="8" name="Allow or redact. Route to Ghost Shell or requ">
            <a:extLst xmlns:a="http://schemas.openxmlformats.org/drawingml/2006/main">
              <a:ext uri="{FF2B5EF4-FFF2-40B4-BE49-F238E27FC236}">
                <a16:creationId xmlns:a16="http://schemas.microsoft.com/office/drawing/2014/main" id="{DDED7B8F-5454-4BA5-9599-557AACC693A8}"/>
              </a:ext>
            </a:extLst>
          </p:cNvPr>
          <p:cNvSpPr>
            <a:spLocks xmlns:a="http://schemas.openxmlformats.org/drawingml/2006/main" noGrp="1"/>
          </p:cNvSpPr>
          <p:nvPr/>
        </p:nvSpPr>
        <p:spPr>
          <a:xfrm xmlns:a="http://schemas.openxmlformats.org/drawingml/2006/main">
            <a:off x="609600" y="510540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6716B"/>
                </a:solidFill>
                <a:latin typeface="Arial"/>
                <a:ea typeface="Arial"/>
                <a:cs typeface="Arial"/>
              </a:defRPr>
            </a:pPr>
            <a:r>
              <a:rPr sz="2175" b="0">
                <a:solidFill>
                  <a:srgbClr val="66716B"/>
                </a:solidFill>
                <a:latin typeface="Arial"/>
                <a:ea typeface="Arial"/>
                <a:cs typeface="Arial"/>
              </a:rPr>
              <a:t>Allow or redact. Route to Ghost Shell or request approval.</a:t>
            </a:r>
          </a:p>
          <a:p xmlns:a="http://schemas.openxmlformats.org/drawingml/2006/main">
            <a:pPr algn="l">
              <a:defRPr sz="2175" b="0">
                <a:solidFill>
                  <a:srgbClr val="66716B"/>
                </a:solidFill>
                <a:latin typeface="Arial"/>
                <a:ea typeface="Arial"/>
                <a:cs typeface="Arial"/>
              </a:defRPr>
            </a:pPr>
            <a:r>
              <a:rPr sz="2175" b="0">
                <a:solidFill>
                  <a:srgbClr val="66716B"/>
                </a:solidFill>
                <a:latin typeface="Arial"/>
                <a:ea typeface="Arial"/>
                <a:cs typeface="Arial"/>
              </a:rPr>
              <a:t>Throttle or block when policy requires it.</a:t>
            </a:r>
          </a:p>
        </p:txBody>
      </p:sp>
    </p:spTree>
    <p:extLst>
      <p:ext uri="{BB962C8B-B14F-4D97-AF65-F5344CB8AC3E}">
        <p14:creationId xmlns:p14="http://schemas.microsoft.com/office/powerpoint/2010/main" val="803409415"/>
      </p:ext>
    </p:extLst>
  </p:cSld>
</p:sld>
</file>

<file path=ppt/slides/slide5.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8" name="Policy changes take effect while MASQE runs">
            <a:extLst xmlns:a="http://schemas.openxmlformats.org/drawingml/2006/main">
              <a:ext uri="{FF2B5EF4-FFF2-40B4-BE49-F238E27FC236}">
                <a16:creationId xmlns:a16="http://schemas.microsoft.com/office/drawing/2014/main" id="{D52DDEA7-AD1E-434E-A8B7-B643D19E2615}"/>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1D20"/>
                </a:solidFill>
                <a:latin typeface="Arial"/>
                <a:ea typeface="Arial"/>
                <a:cs typeface="Arial"/>
              </a:defRPr>
            </a:pPr>
            <a:r>
              <a:rPr sz="3450" b="1">
                <a:solidFill>
                  <a:srgbClr val="171D20"/>
                </a:solidFill>
                <a:latin typeface="Arial"/>
                <a:ea typeface="Arial"/>
                <a:cs typeface="Arial"/>
              </a:rPr>
              <a:t>Policy changes take effect while MASQE runs</a:t>
            </a:r>
          </a:p>
        </p:txBody>
      </p:sp>
      <p:sp>
        <p:nvSpPr>
          <p:cNvPr id="2" name="05">
            <a:extLst xmlns:a="http://schemas.openxmlformats.org/drawingml/2006/main">
              <a:ext uri="{FF2B5EF4-FFF2-40B4-BE49-F238E27FC236}">
                <a16:creationId xmlns:a16="http://schemas.microsoft.com/office/drawing/2014/main" id="{0377CF57-405B-43E5-991F-C4E4095CE343}"/>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16B"/>
                </a:solidFill>
                <a:latin typeface="Arial"/>
                <a:ea typeface="Arial"/>
                <a:cs typeface="Arial"/>
              </a:defRPr>
            </a:pPr>
            <a:r>
              <a:rPr sz="1200" b="0">
                <a:solidFill>
                  <a:srgbClr val="66716B"/>
                </a:solidFill>
                <a:latin typeface="Arial"/>
                <a:ea typeface="Arial"/>
                <a:cs typeface="Arial"/>
              </a:rPr>
              <a:t>05</a:t>
            </a:r>
          </a:p>
        </p:txBody>
      </p:sp>
      <p:sp>
        <p:nvSpPr>
          <p:cNvPr id="3" name="Change the configuration">
            <a:extLst xmlns:a="http://schemas.openxmlformats.org/drawingml/2006/main">
              <a:ext uri="{FF2B5EF4-FFF2-40B4-BE49-F238E27FC236}">
                <a16:creationId xmlns:a16="http://schemas.microsoft.com/office/drawing/2014/main" id="{BE5D584E-4DB3-4BC3-A45B-117F9CEDA169}"/>
              </a:ext>
            </a:extLst>
          </p:cNvPr>
          <p:cNvSpPr>
            <a:spLocks xmlns:a="http://schemas.openxmlformats.org/drawingml/2006/main" noGrp="1"/>
          </p:cNvSpPr>
          <p:nvPr/>
        </p:nvSpPr>
        <p:spPr>
          <a:xfrm xmlns:a="http://schemas.openxmlformats.org/drawingml/2006/main">
            <a:off x="609600" y="1571625"/>
            <a:ext cx="742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35735B"/>
                </a:solidFill>
                <a:latin typeface="Arial"/>
                <a:ea typeface="Arial"/>
                <a:cs typeface="Arial"/>
              </a:defRPr>
            </a:pPr>
            <a:r>
              <a:rPr sz="2625" b="1">
                <a:solidFill>
                  <a:srgbClr val="35735B"/>
                </a:solidFill>
                <a:latin typeface="Arial"/>
                <a:ea typeface="Arial"/>
                <a:cs typeface="Arial"/>
              </a:rPr>
              <a:t>Change the configuration</a:t>
            </a:r>
          </a:p>
        </p:txBody>
      </p:sp>
      <p:sp>
        <p:nvSpPr>
          <p:cNvPr id="4" name="Permissions, allowed models, risk thresholds ">
            <a:extLst xmlns:a="http://schemas.openxmlformats.org/drawingml/2006/main">
              <a:ext uri="{FF2B5EF4-FFF2-40B4-BE49-F238E27FC236}">
                <a16:creationId xmlns:a16="http://schemas.microsoft.com/office/drawing/2014/main" id="{877931A8-0414-4133-9B9C-D88B595B6FD1}"/>
              </a:ext>
            </a:extLst>
          </p:cNvPr>
          <p:cNvSpPr>
            <a:spLocks xmlns:a="http://schemas.openxmlformats.org/drawingml/2006/main" noGrp="1"/>
          </p:cNvSpPr>
          <p:nvPr/>
        </p:nvSpPr>
        <p:spPr>
          <a:xfrm xmlns:a="http://schemas.openxmlformats.org/drawingml/2006/main">
            <a:off x="609600" y="21717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Permissions, allowed models, risk thresholds and threat signatures</a:t>
            </a:r>
          </a:p>
        </p:txBody>
      </p:sp>
      <p:sp>
        <p:nvSpPr>
          <p:cNvPr id="5" name="Control consumption">
            <a:extLst xmlns:a="http://schemas.openxmlformats.org/drawingml/2006/main">
              <a:ext uri="{FF2B5EF4-FFF2-40B4-BE49-F238E27FC236}">
                <a16:creationId xmlns:a16="http://schemas.microsoft.com/office/drawing/2014/main" id="{B44A575B-1FF8-4AA0-8B3F-4596770B034D}"/>
              </a:ext>
            </a:extLst>
          </p:cNvPr>
          <p:cNvSpPr>
            <a:spLocks xmlns:a="http://schemas.openxmlformats.org/drawingml/2006/main" noGrp="1"/>
          </p:cNvSpPr>
          <p:nvPr/>
        </p:nvSpPr>
        <p:spPr>
          <a:xfrm xmlns:a="http://schemas.openxmlformats.org/drawingml/2006/main">
            <a:off x="609600" y="3238500"/>
            <a:ext cx="742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35735B"/>
                </a:solidFill>
                <a:latin typeface="Arial"/>
                <a:ea typeface="Arial"/>
                <a:cs typeface="Arial"/>
              </a:defRPr>
            </a:pPr>
            <a:r>
              <a:rPr sz="2625" b="1">
                <a:solidFill>
                  <a:srgbClr val="35735B"/>
                </a:solidFill>
                <a:latin typeface="Arial"/>
                <a:ea typeface="Arial"/>
                <a:cs typeface="Arial"/>
              </a:rPr>
              <a:t>Control consumption</a:t>
            </a:r>
          </a:p>
        </p:txBody>
      </p:sp>
      <p:sp>
        <p:nvSpPr>
          <p:cNvPr id="6" name="Token and cost budgets, request rates, tool c">
            <a:extLst xmlns:a="http://schemas.openxmlformats.org/drawingml/2006/main">
              <a:ext uri="{FF2B5EF4-FFF2-40B4-BE49-F238E27FC236}">
                <a16:creationId xmlns:a16="http://schemas.microsoft.com/office/drawing/2014/main" id="{7651EAA7-621E-4C7E-A86B-9D61C64F0663}"/>
              </a:ext>
            </a:extLst>
          </p:cNvPr>
          <p:cNvSpPr>
            <a:spLocks xmlns:a="http://schemas.openxmlformats.org/drawingml/2006/main" noGrp="1"/>
          </p:cNvSpPr>
          <p:nvPr/>
        </p:nvSpPr>
        <p:spPr>
          <a:xfrm xmlns:a="http://schemas.openxmlformats.org/drawingml/2006/main">
            <a:off x="609600" y="38385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Token and cost budgets, request rates, tool calls and runtime</a:t>
            </a:r>
          </a:p>
        </p:txBody>
      </p:sp>
      <p:sp>
        <p:nvSpPr>
          <p:cNvPr id="7" name="Invalid edits keep the last valid configurati">
            <a:extLst xmlns:a="http://schemas.openxmlformats.org/drawingml/2006/main">
              <a:ext uri="{FF2B5EF4-FFF2-40B4-BE49-F238E27FC236}">
                <a16:creationId xmlns:a16="http://schemas.microsoft.com/office/drawing/2014/main" id="{82FB7072-5961-48C9-8371-500AC18944C2}"/>
              </a:ext>
            </a:extLst>
          </p:cNvPr>
          <p:cNvSpPr>
            <a:spLocks xmlns:a="http://schemas.openxmlformats.org/drawingml/2006/main" noGrp="1"/>
          </p:cNvSpPr>
          <p:nvPr/>
        </p:nvSpPr>
        <p:spPr>
          <a:xfrm xmlns:a="http://schemas.openxmlformats.org/drawingml/2006/main">
            <a:off x="609600" y="52673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6716B"/>
                </a:solidFill>
                <a:latin typeface="Arial"/>
                <a:ea typeface="Arial"/>
                <a:cs typeface="Arial"/>
              </a:defRPr>
            </a:pPr>
            <a:r>
              <a:rPr sz="2175" b="0">
                <a:solidFill>
                  <a:srgbClr val="66716B"/>
                </a:solidFill>
                <a:latin typeface="Arial"/>
                <a:ea typeface="Arial"/>
                <a:cs typeface="Arial"/>
              </a:rPr>
              <a:t>Invalid edits keep the last valid configuration active.</a:t>
            </a:r>
          </a:p>
        </p:txBody>
      </p:sp>
    </p:spTree>
    <p:extLst>
      <p:ext uri="{BB962C8B-B14F-4D97-AF65-F5344CB8AC3E}">
        <p14:creationId xmlns:p14="http://schemas.microsoft.com/office/powerpoint/2010/main" val="1841994396"/>
      </p:ext>
    </p:extLst>
  </p:cSld>
</p:sld>
</file>

<file path=ppt/slides/slide6.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16" name="Ghost Shell: an attack without host execution">
            <a:extLst xmlns:a="http://schemas.openxmlformats.org/drawingml/2006/main">
              <a:ext uri="{FF2B5EF4-FFF2-40B4-BE49-F238E27FC236}">
                <a16:creationId xmlns:a16="http://schemas.microsoft.com/office/drawing/2014/main" id="{D93E8CEE-9BEA-4532-B33B-5BDDE8C0F5A2}"/>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6F6F1"/>
                </a:solidFill>
                <a:latin typeface="Arial"/>
                <a:ea typeface="Arial"/>
                <a:cs typeface="Arial"/>
              </a:defRPr>
            </a:pPr>
            <a:r>
              <a:rPr sz="3450" b="1">
                <a:solidFill>
                  <a:srgbClr val="F6F6F1"/>
                </a:solidFill>
                <a:latin typeface="Arial"/>
                <a:ea typeface="Arial"/>
                <a:cs typeface="Arial"/>
              </a:rPr>
              <a:t>Ghost Shell: an attack without host execution</a:t>
            </a:r>
          </a:p>
        </p:txBody>
      </p:sp>
      <p:sp>
        <p:nvSpPr>
          <p:cNvPr id="2" name="06">
            <a:extLst xmlns:a="http://schemas.openxmlformats.org/drawingml/2006/main">
              <a:ext uri="{FF2B5EF4-FFF2-40B4-BE49-F238E27FC236}">
                <a16:creationId xmlns:a16="http://schemas.microsoft.com/office/drawing/2014/main" id="{1D1E58EA-01F5-4797-B8C3-B472286B2664}"/>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E2E9DB"/>
                </a:solidFill>
                <a:latin typeface="Arial"/>
                <a:ea typeface="Arial"/>
                <a:cs typeface="Arial"/>
              </a:defRPr>
            </a:pPr>
            <a:r>
              <a:rPr sz="1200" b="0">
                <a:solidFill>
                  <a:srgbClr val="E2E9DB"/>
                </a:solidFill>
                <a:latin typeface="Arial"/>
                <a:ea typeface="Arial"/>
                <a:cs typeface="Arial"/>
              </a:rPr>
              <a:t>06</a:t>
            </a:r>
          </a:p>
        </p:txBody>
      </p:sp>
      <p:sp>
        <p:nvSpPr>
          <p:cNvPr id="3" name="01">
            <a:extLst xmlns:a="http://schemas.openxmlformats.org/drawingml/2006/main">
              <a:ext uri="{FF2B5EF4-FFF2-40B4-BE49-F238E27FC236}">
                <a16:creationId xmlns:a16="http://schemas.microsoft.com/office/drawing/2014/main" id="{8C2BD4E1-0530-4289-A9A0-071E6FEA9F4B}"/>
              </a:ext>
            </a:extLst>
          </p:cNvPr>
          <p:cNvSpPr>
            <a:spLocks xmlns:a="http://schemas.openxmlformats.org/drawingml/2006/main" noGrp="1"/>
          </p:cNvSpPr>
          <p:nvPr/>
        </p:nvSpPr>
        <p:spPr>
          <a:xfrm xmlns:a="http://schemas.openxmlformats.org/drawingml/2006/main">
            <a:off x="609600" y="14763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E2E9DB"/>
                </a:solidFill>
                <a:latin typeface="Arial"/>
                <a:ea typeface="Arial"/>
                <a:cs typeface="Arial"/>
              </a:defRPr>
            </a:pPr>
            <a:r>
              <a:rPr sz="2550" b="1">
                <a:solidFill>
                  <a:srgbClr val="E2E9DB"/>
                </a:solidFill>
                <a:latin typeface="Arial"/>
                <a:ea typeface="Arial"/>
                <a:cs typeface="Arial"/>
              </a:rPr>
              <a:t>01</a:t>
            </a:r>
          </a:p>
        </p:txBody>
      </p:sp>
      <p:sp>
        <p:nvSpPr>
          <p:cNvPr id="4" name="Read the repository">
            <a:extLst xmlns:a="http://schemas.openxmlformats.org/drawingml/2006/main">
              <a:ext uri="{FF2B5EF4-FFF2-40B4-BE49-F238E27FC236}">
                <a16:creationId xmlns:a16="http://schemas.microsoft.com/office/drawing/2014/main" id="{F302FA1B-FB16-4051-8C04-46E7332867E3}"/>
              </a:ext>
            </a:extLst>
          </p:cNvPr>
          <p:cNvSpPr>
            <a:spLocks xmlns:a="http://schemas.openxmlformats.org/drawingml/2006/main" noGrp="1"/>
          </p:cNvSpPr>
          <p:nvPr/>
        </p:nvSpPr>
        <p:spPr>
          <a:xfrm xmlns:a="http://schemas.openxmlformats.org/drawingml/2006/main">
            <a:off x="1562100" y="1476375"/>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6F6F1"/>
                </a:solidFill>
                <a:latin typeface="Arial"/>
                <a:ea typeface="Arial"/>
                <a:cs typeface="Arial"/>
              </a:defRPr>
            </a:pPr>
            <a:r>
              <a:rPr sz="2325" b="1">
                <a:solidFill>
                  <a:srgbClr val="F6F6F1"/>
                </a:solidFill>
                <a:latin typeface="Arial"/>
                <a:ea typeface="Arial"/>
                <a:cs typeface="Arial"/>
              </a:rPr>
              <a:t>Read the repository</a:t>
            </a:r>
          </a:p>
        </p:txBody>
      </p:sp>
      <p:sp>
        <p:nvSpPr>
          <p:cNvPr id="5" name="A README contains a malicious setup instructi">
            <a:extLst xmlns:a="http://schemas.openxmlformats.org/drawingml/2006/main">
              <a:ext uri="{FF2B5EF4-FFF2-40B4-BE49-F238E27FC236}">
                <a16:creationId xmlns:a16="http://schemas.microsoft.com/office/drawing/2014/main" id="{79A92CE9-448C-45A5-8726-666EF103648A}"/>
              </a:ext>
            </a:extLst>
          </p:cNvPr>
          <p:cNvSpPr>
            <a:spLocks xmlns:a="http://schemas.openxmlformats.org/drawingml/2006/main" noGrp="1"/>
          </p:cNvSpPr>
          <p:nvPr/>
        </p:nvSpPr>
        <p:spPr>
          <a:xfrm xmlns:a="http://schemas.openxmlformats.org/drawingml/2006/main">
            <a:off x="1562100" y="18859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2E9DB"/>
                </a:solidFill>
                <a:latin typeface="Arial"/>
                <a:ea typeface="Arial"/>
                <a:cs typeface="Arial"/>
              </a:defRPr>
            </a:pPr>
            <a:r>
              <a:rPr sz="1875" b="0">
                <a:solidFill>
                  <a:srgbClr val="E2E9DB"/>
                </a:solidFill>
                <a:latin typeface="Arial"/>
                <a:ea typeface="Arial"/>
                <a:cs typeface="Arial"/>
              </a:rPr>
              <a:t>A README contains a malicious setup instruction.</a:t>
            </a:r>
          </a:p>
        </p:txBody>
      </p:sp>
      <p:sp>
        <p:nvSpPr>
          <p:cNvPr id="6" name="02">
            <a:extLst xmlns:a="http://schemas.openxmlformats.org/drawingml/2006/main">
              <a:ext uri="{FF2B5EF4-FFF2-40B4-BE49-F238E27FC236}">
                <a16:creationId xmlns:a16="http://schemas.microsoft.com/office/drawing/2014/main" id="{08D619E8-9B40-4859-9DA1-EB0329E46837}"/>
              </a:ext>
            </a:extLst>
          </p:cNvPr>
          <p:cNvSpPr>
            <a:spLocks xmlns:a="http://schemas.openxmlformats.org/drawingml/2006/main" noGrp="1"/>
          </p:cNvSpPr>
          <p:nvPr/>
        </p:nvSpPr>
        <p:spPr>
          <a:xfrm xmlns:a="http://schemas.openxmlformats.org/drawingml/2006/main">
            <a:off x="609600" y="2476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E2E9DB"/>
                </a:solidFill>
                <a:latin typeface="Arial"/>
                <a:ea typeface="Arial"/>
                <a:cs typeface="Arial"/>
              </a:defRPr>
            </a:pPr>
            <a:r>
              <a:rPr sz="2550" b="1">
                <a:solidFill>
                  <a:srgbClr val="E2E9DB"/>
                </a:solidFill>
                <a:latin typeface="Arial"/>
                <a:ea typeface="Arial"/>
                <a:cs typeface="Arial"/>
              </a:rPr>
              <a:t>02</a:t>
            </a:r>
          </a:p>
        </p:txBody>
      </p:sp>
      <p:sp>
        <p:nvSpPr>
          <p:cNvPr id="7" name="Run the “installer”">
            <a:extLst xmlns:a="http://schemas.openxmlformats.org/drawingml/2006/main">
              <a:ext uri="{FF2B5EF4-FFF2-40B4-BE49-F238E27FC236}">
                <a16:creationId xmlns:a16="http://schemas.microsoft.com/office/drawing/2014/main" id="{6740B866-9CAE-4D23-A100-26326783D03B}"/>
              </a:ext>
            </a:extLst>
          </p:cNvPr>
          <p:cNvSpPr>
            <a:spLocks xmlns:a="http://schemas.openxmlformats.org/drawingml/2006/main" noGrp="1"/>
          </p:cNvSpPr>
          <p:nvPr/>
        </p:nvSpPr>
        <p:spPr>
          <a:xfrm xmlns:a="http://schemas.openxmlformats.org/drawingml/2006/main">
            <a:off x="1562100" y="2476500"/>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6F6F1"/>
                </a:solidFill>
                <a:latin typeface="Arial"/>
                <a:ea typeface="Arial"/>
                <a:cs typeface="Arial"/>
              </a:defRPr>
            </a:pPr>
            <a:r>
              <a:rPr sz="2325" b="1">
                <a:solidFill>
                  <a:srgbClr val="F6F6F1"/>
                </a:solidFill>
                <a:latin typeface="Arial"/>
                <a:ea typeface="Arial"/>
                <a:cs typeface="Arial"/>
              </a:rPr>
              <a:t>Run the “installer”</a:t>
            </a:r>
          </a:p>
        </p:txBody>
      </p:sp>
      <p:sp>
        <p:nvSpPr>
          <p:cNvPr id="8" name="The emulator returns a simulated result.">
            <a:extLst xmlns:a="http://schemas.openxmlformats.org/drawingml/2006/main">
              <a:ext uri="{FF2B5EF4-FFF2-40B4-BE49-F238E27FC236}">
                <a16:creationId xmlns:a16="http://schemas.microsoft.com/office/drawing/2014/main" id="{E0C1A6AD-62F8-4717-8B3C-CE4D589DE075}"/>
              </a:ext>
            </a:extLst>
          </p:cNvPr>
          <p:cNvSpPr>
            <a:spLocks xmlns:a="http://schemas.openxmlformats.org/drawingml/2006/main" noGrp="1"/>
          </p:cNvSpPr>
          <p:nvPr/>
        </p:nvSpPr>
        <p:spPr>
          <a:xfrm xmlns:a="http://schemas.openxmlformats.org/drawingml/2006/main">
            <a:off x="1562100" y="2886075"/>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2E9DB"/>
                </a:solidFill>
                <a:latin typeface="Arial"/>
                <a:ea typeface="Arial"/>
                <a:cs typeface="Arial"/>
              </a:defRPr>
            </a:pPr>
            <a:r>
              <a:rPr sz="1875" b="0">
                <a:solidFill>
                  <a:srgbClr val="E2E9DB"/>
                </a:solidFill>
                <a:latin typeface="Arial"/>
                <a:ea typeface="Arial"/>
                <a:cs typeface="Arial"/>
              </a:rPr>
              <a:t>The emulator returns a simulated result.</a:t>
            </a:r>
          </a:p>
        </p:txBody>
      </p:sp>
      <p:sp>
        <p:nvSpPr>
          <p:cNvPr id="9" name="03">
            <a:extLst xmlns:a="http://schemas.openxmlformats.org/drawingml/2006/main">
              <a:ext uri="{FF2B5EF4-FFF2-40B4-BE49-F238E27FC236}">
                <a16:creationId xmlns:a16="http://schemas.microsoft.com/office/drawing/2014/main" id="{93A855C1-68EF-45CD-A56C-D13FE408B7DC}"/>
              </a:ext>
            </a:extLst>
          </p:cNvPr>
          <p:cNvSpPr>
            <a:spLocks xmlns:a="http://schemas.openxmlformats.org/drawingml/2006/main" noGrp="1"/>
          </p:cNvSpPr>
          <p:nvPr/>
        </p:nvSpPr>
        <p:spPr>
          <a:xfrm xmlns:a="http://schemas.openxmlformats.org/drawingml/2006/main">
            <a:off x="609600" y="34766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E2E9DB"/>
                </a:solidFill>
                <a:latin typeface="Arial"/>
                <a:ea typeface="Arial"/>
                <a:cs typeface="Arial"/>
              </a:defRPr>
            </a:pPr>
            <a:r>
              <a:rPr sz="2550" b="1">
                <a:solidFill>
                  <a:srgbClr val="E2E9DB"/>
                </a:solidFill>
                <a:latin typeface="Arial"/>
                <a:ea typeface="Arial"/>
                <a:cs typeface="Arial"/>
              </a:rPr>
              <a:t>03</a:t>
            </a:r>
          </a:p>
        </p:txBody>
      </p:sp>
      <p:sp>
        <p:nvSpPr>
          <p:cNvPr id="10" name="Read the fake .env">
            <a:extLst xmlns:a="http://schemas.openxmlformats.org/drawingml/2006/main">
              <a:ext uri="{FF2B5EF4-FFF2-40B4-BE49-F238E27FC236}">
                <a16:creationId xmlns:a16="http://schemas.microsoft.com/office/drawing/2014/main" id="{3209AC2C-5B7A-4B79-8CCC-AA84C3E9259A}"/>
              </a:ext>
            </a:extLst>
          </p:cNvPr>
          <p:cNvSpPr>
            <a:spLocks xmlns:a="http://schemas.openxmlformats.org/drawingml/2006/main" noGrp="1"/>
          </p:cNvSpPr>
          <p:nvPr/>
        </p:nvSpPr>
        <p:spPr>
          <a:xfrm xmlns:a="http://schemas.openxmlformats.org/drawingml/2006/main">
            <a:off x="1562100" y="3476625"/>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6F6F1"/>
                </a:solidFill>
                <a:latin typeface="Arial"/>
                <a:ea typeface="Arial"/>
                <a:cs typeface="Arial"/>
              </a:defRPr>
            </a:pPr>
            <a:r>
              <a:rPr sz="2325" b="1">
                <a:solidFill>
                  <a:srgbClr val="F6F6F1"/>
                </a:solidFill>
                <a:latin typeface="Arial"/>
                <a:ea typeface="Arial"/>
                <a:cs typeface="Arial"/>
              </a:rPr>
              <a:t>Read the fake .env</a:t>
            </a:r>
          </a:p>
        </p:txBody>
      </p:sp>
      <p:sp>
        <p:nvSpPr>
          <p:cNvPr id="11" name="Per-session honeytokens act as marked credent">
            <a:extLst xmlns:a="http://schemas.openxmlformats.org/drawingml/2006/main">
              <a:ext uri="{FF2B5EF4-FFF2-40B4-BE49-F238E27FC236}">
                <a16:creationId xmlns:a16="http://schemas.microsoft.com/office/drawing/2014/main" id="{E1BF280D-3501-4576-BC66-A2145E476CCB}"/>
              </a:ext>
            </a:extLst>
          </p:cNvPr>
          <p:cNvSpPr>
            <a:spLocks xmlns:a="http://schemas.openxmlformats.org/drawingml/2006/main" noGrp="1"/>
          </p:cNvSpPr>
          <p:nvPr/>
        </p:nvSpPr>
        <p:spPr>
          <a:xfrm xmlns:a="http://schemas.openxmlformats.org/drawingml/2006/main">
            <a:off x="1562100" y="38862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2E9DB"/>
                </a:solidFill>
                <a:latin typeface="Arial"/>
                <a:ea typeface="Arial"/>
                <a:cs typeface="Arial"/>
              </a:defRPr>
            </a:pPr>
            <a:r>
              <a:rPr sz="1875" b="0">
                <a:solidFill>
                  <a:srgbClr val="E2E9DB"/>
                </a:solidFill>
                <a:latin typeface="Arial"/>
                <a:ea typeface="Arial"/>
                <a:cs typeface="Arial"/>
              </a:rPr>
              <a:t>Per-session honeytokens act as marked credentials.</a:t>
            </a:r>
          </a:p>
        </p:txBody>
      </p:sp>
      <p:sp>
        <p:nvSpPr>
          <p:cNvPr id="12" name="04">
            <a:extLst xmlns:a="http://schemas.openxmlformats.org/drawingml/2006/main">
              <a:ext uri="{FF2B5EF4-FFF2-40B4-BE49-F238E27FC236}">
                <a16:creationId xmlns:a16="http://schemas.microsoft.com/office/drawing/2014/main" id="{4B57279B-4580-4E3B-B486-C7ABAF0E49F3}"/>
              </a:ext>
            </a:extLst>
          </p:cNvPr>
          <p:cNvSpPr>
            <a:spLocks xmlns:a="http://schemas.openxmlformats.org/drawingml/2006/main" noGrp="1"/>
          </p:cNvSpPr>
          <p:nvPr/>
        </p:nvSpPr>
        <p:spPr>
          <a:xfrm xmlns:a="http://schemas.openxmlformats.org/drawingml/2006/main">
            <a:off x="609600" y="44767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E2E9DB"/>
                </a:solidFill>
                <a:latin typeface="Arial"/>
                <a:ea typeface="Arial"/>
                <a:cs typeface="Arial"/>
              </a:defRPr>
            </a:pPr>
            <a:r>
              <a:rPr sz="2550" b="1">
                <a:solidFill>
                  <a:srgbClr val="E2E9DB"/>
                </a:solidFill>
                <a:latin typeface="Arial"/>
                <a:ea typeface="Arial"/>
                <a:cs typeface="Arial"/>
              </a:rPr>
              <a:t>04</a:t>
            </a:r>
          </a:p>
        </p:txBody>
      </p:sp>
      <p:sp>
        <p:nvSpPr>
          <p:cNvPr id="13" name="Attempt an upload">
            <a:extLst xmlns:a="http://schemas.openxmlformats.org/drawingml/2006/main">
              <a:ext uri="{FF2B5EF4-FFF2-40B4-BE49-F238E27FC236}">
                <a16:creationId xmlns:a16="http://schemas.microsoft.com/office/drawing/2014/main" id="{359F640E-A771-41A9-839F-C4D653808231}"/>
              </a:ext>
            </a:extLst>
          </p:cNvPr>
          <p:cNvSpPr>
            <a:spLocks xmlns:a="http://schemas.openxmlformats.org/drawingml/2006/main" noGrp="1"/>
          </p:cNvSpPr>
          <p:nvPr/>
        </p:nvSpPr>
        <p:spPr>
          <a:xfrm xmlns:a="http://schemas.openxmlformats.org/drawingml/2006/main">
            <a:off x="1562100" y="4476750"/>
            <a:ext cx="942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6F6F1"/>
                </a:solidFill>
                <a:latin typeface="Arial"/>
                <a:ea typeface="Arial"/>
                <a:cs typeface="Arial"/>
              </a:defRPr>
            </a:pPr>
            <a:r>
              <a:rPr sz="2325" b="1">
                <a:solidFill>
                  <a:srgbClr val="F6F6F1"/>
                </a:solidFill>
                <a:latin typeface="Arial"/>
                <a:ea typeface="Arial"/>
                <a:cs typeface="Arial"/>
              </a:rPr>
              <a:t>Attempt an upload</a:t>
            </a:r>
          </a:p>
        </p:txBody>
      </p:sp>
      <p:sp>
        <p:nvSpPr>
          <p:cNvPr id="14" name="MASQE detects the tokens and records an incid">
            <a:extLst xmlns:a="http://schemas.openxmlformats.org/drawingml/2006/main">
              <a:ext uri="{FF2B5EF4-FFF2-40B4-BE49-F238E27FC236}">
                <a16:creationId xmlns:a16="http://schemas.microsoft.com/office/drawing/2014/main" id="{78C9D766-2631-478A-BB82-DA93DF4214DD}"/>
              </a:ext>
            </a:extLst>
          </p:cNvPr>
          <p:cNvSpPr>
            <a:spLocks xmlns:a="http://schemas.openxmlformats.org/drawingml/2006/main" noGrp="1"/>
          </p:cNvSpPr>
          <p:nvPr/>
        </p:nvSpPr>
        <p:spPr>
          <a:xfrm xmlns:a="http://schemas.openxmlformats.org/drawingml/2006/main">
            <a:off x="1562100" y="4886325"/>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2E9DB"/>
                </a:solidFill>
                <a:latin typeface="Arial"/>
                <a:ea typeface="Arial"/>
                <a:cs typeface="Arial"/>
              </a:defRPr>
            </a:pPr>
            <a:r>
              <a:rPr sz="1875" b="0">
                <a:solidFill>
                  <a:srgbClr val="E2E9DB"/>
                </a:solidFill>
                <a:latin typeface="Arial"/>
                <a:ea typeface="Arial"/>
                <a:cs typeface="Arial"/>
              </a:rPr>
              <a:t>MASQE detects the tokens and records an incident.</a:t>
            </a:r>
          </a:p>
        </p:txBody>
      </p:sp>
      <p:sp>
        <p:nvSpPr>
          <p:cNvPr id="15" name="No host command or outbound network request r">
            <a:extLst xmlns:a="http://schemas.openxmlformats.org/drawingml/2006/main">
              <a:ext uri="{FF2B5EF4-FFF2-40B4-BE49-F238E27FC236}">
                <a16:creationId xmlns:a16="http://schemas.microsoft.com/office/drawing/2014/main" id="{A2187435-7625-4716-8947-2E1F886DC183}"/>
              </a:ext>
            </a:extLst>
          </p:cNvPr>
          <p:cNvSpPr>
            <a:spLocks xmlns:a="http://schemas.openxmlformats.org/drawingml/2006/main" noGrp="1"/>
          </p:cNvSpPr>
          <p:nvPr/>
        </p:nvSpPr>
        <p:spPr>
          <a:xfrm xmlns:a="http://schemas.openxmlformats.org/drawingml/2006/main">
            <a:off x="609600" y="5857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2E9DB"/>
                </a:solidFill>
                <a:latin typeface="Arial"/>
                <a:ea typeface="Arial"/>
                <a:cs typeface="Arial"/>
              </a:defRPr>
            </a:pPr>
            <a:r>
              <a:rPr sz="1725" b="0">
                <a:solidFill>
                  <a:srgbClr val="E2E9DB"/>
                </a:solidFill>
                <a:latin typeface="Arial"/>
                <a:ea typeface="Arial"/>
                <a:cs typeface="Arial"/>
              </a:rPr>
              <a:t>No host command or outbound network request runs. The recorder preserves a hash chain.</a:t>
            </a:r>
          </a:p>
        </p:txBody>
      </p:sp>
    </p:spTree>
    <p:extLst>
      <p:ext uri="{BB962C8B-B14F-4D97-AF65-F5344CB8AC3E}">
        <p14:creationId xmlns:p14="http://schemas.microsoft.com/office/powerpoint/2010/main" val="190221458"/>
      </p:ext>
    </p:extLst>
  </p:cSld>
</p:sld>
</file>

<file path=ppt/slides/slide7.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A console for security and management">
            <a:extLst xmlns:a="http://schemas.openxmlformats.org/drawingml/2006/main">
              <a:ext uri="{FF2B5EF4-FFF2-40B4-BE49-F238E27FC236}">
                <a16:creationId xmlns:a16="http://schemas.microsoft.com/office/drawing/2014/main" id="{58DD8389-0FE4-4368-A484-8D1C5708C008}"/>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1D20"/>
                </a:solidFill>
                <a:latin typeface="Arial"/>
                <a:ea typeface="Arial"/>
                <a:cs typeface="Arial"/>
              </a:defRPr>
            </a:pPr>
            <a:r>
              <a:rPr sz="3450" b="1">
                <a:solidFill>
                  <a:srgbClr val="171D20"/>
                </a:solidFill>
                <a:latin typeface="Arial"/>
                <a:ea typeface="Arial"/>
                <a:cs typeface="Arial"/>
              </a:rPr>
              <a:t>A console for security and management</a:t>
            </a:r>
          </a:p>
        </p:txBody>
      </p:sp>
      <p:sp>
        <p:nvSpPr>
          <p:cNvPr id="2" name="07">
            <a:extLst xmlns:a="http://schemas.openxmlformats.org/drawingml/2006/main">
              <a:ext uri="{FF2B5EF4-FFF2-40B4-BE49-F238E27FC236}">
                <a16:creationId xmlns:a16="http://schemas.microsoft.com/office/drawing/2014/main" id="{8C35FCEB-9014-4662-AC1F-83478AA200FD}"/>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16B"/>
                </a:solidFill>
                <a:latin typeface="Arial"/>
                <a:ea typeface="Arial"/>
                <a:cs typeface="Arial"/>
              </a:defRPr>
            </a:pPr>
            <a:r>
              <a:rPr sz="1200" b="0">
                <a:solidFill>
                  <a:srgbClr val="66716B"/>
                </a:solidFill>
                <a:latin typeface="Arial"/>
                <a:ea typeface="Arial"/>
                <a:cs typeface="Arial"/>
              </a:rPr>
              <a:t>07</a:t>
            </a:r>
          </a:p>
        </p:txBody>
      </p:sp>
      <p:sp>
        <p:nvSpPr>
          <p:cNvPr id="3" name="Security teams">
            <a:extLst xmlns:a="http://schemas.openxmlformats.org/drawingml/2006/main">
              <a:ext uri="{FF2B5EF4-FFF2-40B4-BE49-F238E27FC236}">
                <a16:creationId xmlns:a16="http://schemas.microsoft.com/office/drawing/2014/main" id="{DE6E18EA-F532-44CC-8B9B-00D70E0C386A}"/>
              </a:ext>
            </a:extLst>
          </p:cNvPr>
          <p:cNvSpPr>
            <a:spLocks xmlns:a="http://schemas.openxmlformats.org/drawingml/2006/main" noGrp="1"/>
          </p:cNvSpPr>
          <p:nvPr/>
        </p:nvSpPr>
        <p:spPr>
          <a:xfrm xmlns:a="http://schemas.openxmlformats.org/drawingml/2006/main">
            <a:off x="609600" y="1571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35735B"/>
                </a:solidFill>
                <a:latin typeface="Arial"/>
                <a:ea typeface="Arial"/>
                <a:cs typeface="Arial"/>
              </a:defRPr>
            </a:pPr>
            <a:r>
              <a:rPr sz="2625" b="1">
                <a:solidFill>
                  <a:srgbClr val="35735B"/>
                </a:solidFill>
                <a:latin typeface="Arial"/>
                <a:ea typeface="Arial"/>
                <a:cs typeface="Arial"/>
              </a:rPr>
              <a:t>Security teams</a:t>
            </a:r>
          </a:p>
        </p:txBody>
      </p:sp>
      <p:sp>
        <p:nvSpPr>
          <p:cNvPr id="4" name="Live decisions and incidents&#10;Triggered contro">
            <a:extLst xmlns:a="http://schemas.openxmlformats.org/drawingml/2006/main">
              <a:ext uri="{FF2B5EF4-FFF2-40B4-BE49-F238E27FC236}">
                <a16:creationId xmlns:a16="http://schemas.microsoft.com/office/drawing/2014/main" id="{46860C40-6010-4883-8674-875F38881569}"/>
              </a:ext>
            </a:extLst>
          </p:cNvPr>
          <p:cNvSpPr>
            <a:spLocks xmlns:a="http://schemas.openxmlformats.org/drawingml/2006/main" noGrp="1"/>
          </p:cNvSpPr>
          <p:nvPr/>
        </p:nvSpPr>
        <p:spPr>
          <a:xfrm xmlns:a="http://schemas.openxmlformats.org/drawingml/2006/main">
            <a:off x="609600" y="2362200"/>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Live decisions and incidents</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Triggered controls and audit records</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Ghost Shell command history</a:t>
            </a:r>
          </a:p>
        </p:txBody>
      </p:sp>
      <p:sp>
        <p:nvSpPr>
          <p:cNvPr id="5" name="Management">
            <a:extLst xmlns:a="http://schemas.openxmlformats.org/drawingml/2006/main">
              <a:ext uri="{FF2B5EF4-FFF2-40B4-BE49-F238E27FC236}">
                <a16:creationId xmlns:a16="http://schemas.microsoft.com/office/drawing/2014/main" id="{1EDF8DC3-7661-498F-AEAE-ACEF4BC5C8CF}"/>
              </a:ext>
            </a:extLst>
          </p:cNvPr>
          <p:cNvSpPr>
            <a:spLocks xmlns:a="http://schemas.openxmlformats.org/drawingml/2006/main" noGrp="1"/>
          </p:cNvSpPr>
          <p:nvPr/>
        </p:nvSpPr>
        <p:spPr>
          <a:xfrm xmlns:a="http://schemas.openxmlformats.org/drawingml/2006/main">
            <a:off x="6524625" y="1571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35735B"/>
                </a:solidFill>
                <a:latin typeface="Arial"/>
                <a:ea typeface="Arial"/>
                <a:cs typeface="Arial"/>
              </a:defRPr>
            </a:pPr>
            <a:r>
              <a:rPr sz="2625" b="1">
                <a:solidFill>
                  <a:srgbClr val="35735B"/>
                </a:solidFill>
                <a:latin typeface="Arial"/>
                <a:ea typeface="Arial"/>
                <a:cs typeface="Arial"/>
              </a:rPr>
              <a:t>Management</a:t>
            </a:r>
          </a:p>
        </p:txBody>
      </p:sp>
      <p:sp>
        <p:nvSpPr>
          <p:cNvPr id="6" name="Resource use and budget status&#10;Latency percen">
            <a:extLst xmlns:a="http://schemas.openxmlformats.org/drawingml/2006/main">
              <a:ext uri="{FF2B5EF4-FFF2-40B4-BE49-F238E27FC236}">
                <a16:creationId xmlns:a16="http://schemas.microsoft.com/office/drawing/2014/main" id="{95ED82CB-8CAC-4FDB-AB03-1DE75BE96551}"/>
              </a:ext>
            </a:extLst>
          </p:cNvPr>
          <p:cNvSpPr>
            <a:spLocks xmlns:a="http://schemas.openxmlformats.org/drawingml/2006/main" noGrp="1"/>
          </p:cNvSpPr>
          <p:nvPr/>
        </p:nvSpPr>
        <p:spPr>
          <a:xfrm xmlns:a="http://schemas.openxmlformats.org/drawingml/2006/main">
            <a:off x="6524625" y="2362200"/>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Resource use and budget status</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Latency percentiles</a:t>
            </a:r>
          </a:p>
          <a:p xmlns:a="http://schemas.openxmlformats.org/drawingml/2006/main">
            <a:pPr algn="l">
              <a:defRPr sz="2100" b="0">
                <a:solidFill>
                  <a:srgbClr val="171D20"/>
                </a:solidFill>
                <a:latin typeface="Arial"/>
                <a:ea typeface="Arial"/>
                <a:cs typeface="Arial"/>
              </a:defRPr>
            </a:pPr>
            <a:r>
              <a:rPr sz="2100" b="0">
                <a:solidFill>
                  <a:srgbClr val="171D20"/>
                </a:solidFill>
                <a:latin typeface="Arial"/>
                <a:ea typeface="Arial"/>
                <a:cs typeface="Arial"/>
              </a:rPr>
              <a:t>Exportable reports</a:t>
            </a:r>
          </a:p>
        </p:txBody>
      </p:sp>
      <p:sp>
        <p:nvSpPr>
          <p:cNvPr id="7" name="Optional AI explanations translate the verdic">
            <a:extLst xmlns:a="http://schemas.openxmlformats.org/drawingml/2006/main">
              <a:ext uri="{FF2B5EF4-FFF2-40B4-BE49-F238E27FC236}">
                <a16:creationId xmlns:a16="http://schemas.microsoft.com/office/drawing/2014/main" id="{55525099-9235-475B-A157-E1733740E876}"/>
              </a:ext>
            </a:extLst>
          </p:cNvPr>
          <p:cNvSpPr>
            <a:spLocks xmlns:a="http://schemas.openxmlformats.org/drawingml/2006/main" noGrp="1"/>
          </p:cNvSpPr>
          <p:nvPr/>
        </p:nvSpPr>
        <p:spPr>
          <a:xfrm xmlns:a="http://schemas.openxmlformats.org/drawingml/2006/main">
            <a:off x="609600" y="48958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1D20"/>
                </a:solidFill>
                <a:latin typeface="Arial"/>
                <a:ea typeface="Arial"/>
                <a:cs typeface="Arial"/>
              </a:defRPr>
            </a:pPr>
            <a:r>
              <a:rPr sz="2325" b="1">
                <a:solidFill>
                  <a:srgbClr val="171D20"/>
                </a:solidFill>
                <a:latin typeface="Arial"/>
                <a:ea typeface="Arial"/>
                <a:cs typeface="Arial"/>
              </a:rPr>
              <a:t>Optional AI explanations translate the verdict into plain language.</a:t>
            </a:r>
          </a:p>
        </p:txBody>
      </p:sp>
      <p:sp>
        <p:nvSpPr>
          <p:cNvPr id="8" name="The local explainer currently answers in Poli">
            <a:extLst xmlns:a="http://schemas.openxmlformats.org/drawingml/2006/main">
              <a:ext uri="{FF2B5EF4-FFF2-40B4-BE49-F238E27FC236}">
                <a16:creationId xmlns:a16="http://schemas.microsoft.com/office/drawing/2014/main" id="{8FCCD9EA-9DC3-4B55-A4B8-4581F47B0718}"/>
              </a:ext>
            </a:extLst>
          </p:cNvPr>
          <p:cNvSpPr>
            <a:spLocks xmlns:a="http://schemas.openxmlformats.org/drawingml/2006/main" noGrp="1"/>
          </p:cNvSpPr>
          <p:nvPr/>
        </p:nvSpPr>
        <p:spPr>
          <a:xfrm xmlns:a="http://schemas.openxmlformats.org/drawingml/2006/main">
            <a:off x="609600" y="585787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16B"/>
                </a:solidFill>
                <a:latin typeface="Arial"/>
                <a:ea typeface="Arial"/>
                <a:cs typeface="Arial"/>
              </a:defRPr>
            </a:pPr>
            <a:r>
              <a:rPr sz="1725" b="0">
                <a:solidFill>
                  <a:srgbClr val="66716B"/>
                </a:solidFill>
                <a:latin typeface="Arial"/>
                <a:ea typeface="Arial"/>
                <a:cs typeface="Arial"/>
              </a:rPr>
              <a:t>The local explainer currently answers in Polish and runs after the security decision.</a:t>
            </a:r>
          </a:p>
        </p:txBody>
      </p:sp>
    </p:spTree>
    <p:extLst>
      <p:ext uri="{BB962C8B-B14F-4D97-AF65-F5344CB8AC3E}">
        <p14:creationId xmlns:p14="http://schemas.microsoft.com/office/powerpoint/2010/main" val="1532576890"/>
      </p:ext>
    </p:extLst>
  </p:cSld>
</p:sld>
</file>

<file path=ppt/slides/slide8.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1" name="Evidence the jury can challenge">
            <a:extLst xmlns:a="http://schemas.openxmlformats.org/drawingml/2006/main">
              <a:ext uri="{FF2B5EF4-FFF2-40B4-BE49-F238E27FC236}">
                <a16:creationId xmlns:a16="http://schemas.microsoft.com/office/drawing/2014/main" id="{DA491964-3D3A-43AB-AC40-401756471504}"/>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1D20"/>
                </a:solidFill>
                <a:latin typeface="Arial"/>
                <a:ea typeface="Arial"/>
                <a:cs typeface="Arial"/>
              </a:defRPr>
            </a:pPr>
            <a:r>
              <a:rPr sz="3450" b="1">
                <a:solidFill>
                  <a:srgbClr val="171D20"/>
                </a:solidFill>
                <a:latin typeface="Arial"/>
                <a:ea typeface="Arial"/>
                <a:cs typeface="Arial"/>
              </a:rPr>
              <a:t>Evidence the jury can challenge</a:t>
            </a:r>
          </a:p>
        </p:txBody>
      </p:sp>
      <p:sp>
        <p:nvSpPr>
          <p:cNvPr id="2" name="08">
            <a:extLst xmlns:a="http://schemas.openxmlformats.org/drawingml/2006/main">
              <a:ext uri="{FF2B5EF4-FFF2-40B4-BE49-F238E27FC236}">
                <a16:creationId xmlns:a16="http://schemas.microsoft.com/office/drawing/2014/main" id="{E9BFC5C4-4AD8-4084-A1B6-4CCB9D327CDC}"/>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16B"/>
                </a:solidFill>
                <a:latin typeface="Arial"/>
                <a:ea typeface="Arial"/>
                <a:cs typeface="Arial"/>
              </a:defRPr>
            </a:pPr>
            <a:r>
              <a:rPr sz="1200" b="0">
                <a:solidFill>
                  <a:srgbClr val="66716B"/>
                </a:solidFill>
                <a:latin typeface="Arial"/>
                <a:ea typeface="Arial"/>
                <a:cs typeface="Arial"/>
              </a:rPr>
              <a:t>08</a:t>
            </a:r>
          </a:p>
        </p:txBody>
      </p:sp>
      <p:sp>
        <p:nvSpPr>
          <p:cNvPr id="3" name="159">
            <a:extLst xmlns:a="http://schemas.openxmlformats.org/drawingml/2006/main">
              <a:ext uri="{FF2B5EF4-FFF2-40B4-BE49-F238E27FC236}">
                <a16:creationId xmlns:a16="http://schemas.microsoft.com/office/drawing/2014/main" id="{CE11D765-15E9-49B2-8ED2-EC67DE792379}"/>
              </a:ext>
            </a:extLst>
          </p:cNvPr>
          <p:cNvSpPr>
            <a:spLocks xmlns:a="http://schemas.openxmlformats.org/drawingml/2006/main" noGrp="1"/>
          </p:cNvSpPr>
          <p:nvPr/>
        </p:nvSpPr>
        <p:spPr>
          <a:xfrm xmlns:a="http://schemas.openxmlformats.org/drawingml/2006/main">
            <a:off x="609600" y="15240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300" b="1">
                <a:solidFill>
                  <a:srgbClr val="35735B"/>
                </a:solidFill>
                <a:latin typeface="Arial"/>
                <a:ea typeface="Arial"/>
                <a:cs typeface="Arial"/>
              </a:defRPr>
            </a:pPr>
            <a:r>
              <a:rPr sz="9300" b="1">
                <a:solidFill>
                  <a:srgbClr val="35735B"/>
                </a:solidFill>
                <a:latin typeface="Arial"/>
                <a:ea typeface="Arial"/>
                <a:cs typeface="Arial"/>
              </a:rPr>
              <a:t>159</a:t>
            </a:r>
          </a:p>
        </p:txBody>
      </p:sp>
      <p:sp>
        <p:nvSpPr>
          <p:cNvPr id="4" name="automated tests passed">
            <a:extLst xmlns:a="http://schemas.openxmlformats.org/drawingml/2006/main">
              <a:ext uri="{FF2B5EF4-FFF2-40B4-BE49-F238E27FC236}">
                <a16:creationId xmlns:a16="http://schemas.microsoft.com/office/drawing/2014/main" id="{737EA7E0-0A80-4F2A-A6AF-BFF42026D231}"/>
              </a:ext>
            </a:extLst>
          </p:cNvPr>
          <p:cNvSpPr>
            <a:spLocks xmlns:a="http://schemas.openxmlformats.org/drawingml/2006/main" noGrp="1"/>
          </p:cNvSpPr>
          <p:nvPr/>
        </p:nvSpPr>
        <p:spPr>
          <a:xfrm xmlns:a="http://schemas.openxmlformats.org/drawingml/2006/main">
            <a:off x="647700" y="30765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1D20"/>
                </a:solidFill>
                <a:latin typeface="Arial"/>
                <a:ea typeface="Arial"/>
                <a:cs typeface="Arial"/>
              </a:defRPr>
            </a:pPr>
            <a:r>
              <a:rPr sz="2475" b="1">
                <a:solidFill>
                  <a:srgbClr val="171D20"/>
                </a:solidFill>
                <a:latin typeface="Arial"/>
                <a:ea typeface="Arial"/>
                <a:cs typeface="Arial"/>
              </a:rPr>
              <a:t>automated tests passed</a:t>
            </a:r>
          </a:p>
        </p:txBody>
      </p:sp>
      <p:sp>
        <p:nvSpPr>
          <p:cNvPr id="5" name="Verified run: 4 October 2026">
            <a:extLst xmlns:a="http://schemas.openxmlformats.org/drawingml/2006/main">
              <a:ext uri="{FF2B5EF4-FFF2-40B4-BE49-F238E27FC236}">
                <a16:creationId xmlns:a16="http://schemas.microsoft.com/office/drawing/2014/main" id="{1F3F2B9E-F982-4DEE-8F82-357FB156C08A}"/>
              </a:ext>
            </a:extLst>
          </p:cNvPr>
          <p:cNvSpPr>
            <a:spLocks xmlns:a="http://schemas.openxmlformats.org/drawingml/2006/main" noGrp="1"/>
          </p:cNvSpPr>
          <p:nvPr/>
        </p:nvSpPr>
        <p:spPr>
          <a:xfrm xmlns:a="http://schemas.openxmlformats.org/drawingml/2006/main">
            <a:off x="647700" y="36671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16B"/>
                </a:solidFill>
                <a:latin typeface="Arial"/>
                <a:ea typeface="Arial"/>
                <a:cs typeface="Arial"/>
              </a:defRPr>
            </a:pPr>
            <a:r>
              <a:rPr sz="1725" b="0">
                <a:solidFill>
                  <a:srgbClr val="66716B"/>
                </a:solidFill>
                <a:latin typeface="Arial"/>
                <a:ea typeface="Arial"/>
                <a:cs typeface="Arial"/>
              </a:rPr>
              <a:t>Verified run: 4 October 2026</a:t>
            </a:r>
          </a:p>
        </p:txBody>
      </p:sp>
      <p:sp>
        <p:nvSpPr>
          <p:cNvPr id="6" name="Positive and negative cases">
            <a:extLst xmlns:a="http://schemas.openxmlformats.org/drawingml/2006/main">
              <a:ext uri="{FF2B5EF4-FFF2-40B4-BE49-F238E27FC236}">
                <a16:creationId xmlns:a16="http://schemas.microsoft.com/office/drawing/2014/main" id="{BE91D2EC-8138-4828-8BF0-0ED9B14F37DC}"/>
              </a:ext>
            </a:extLst>
          </p:cNvPr>
          <p:cNvSpPr>
            <a:spLocks xmlns:a="http://schemas.openxmlformats.org/drawingml/2006/main" noGrp="1"/>
          </p:cNvSpPr>
          <p:nvPr/>
        </p:nvSpPr>
        <p:spPr>
          <a:xfrm xmlns:a="http://schemas.openxmlformats.org/drawingml/2006/main">
            <a:off x="6524625" y="15621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1D20"/>
                </a:solidFill>
                <a:latin typeface="Arial"/>
                <a:ea typeface="Arial"/>
                <a:cs typeface="Arial"/>
              </a:defRPr>
            </a:pPr>
            <a:r>
              <a:rPr sz="2250" b="1">
                <a:solidFill>
                  <a:srgbClr val="171D20"/>
                </a:solidFill>
                <a:latin typeface="Arial"/>
                <a:ea typeface="Arial"/>
                <a:cs typeface="Arial"/>
              </a:rPr>
              <a:t>Positive and negative cases</a:t>
            </a:r>
          </a:p>
        </p:txBody>
      </p:sp>
      <p:sp>
        <p:nvSpPr>
          <p:cNvPr id="7" name="Safe requests proceed. Unsafe actions&#10;trigger">
            <a:extLst xmlns:a="http://schemas.openxmlformats.org/drawingml/2006/main">
              <a:ext uri="{FF2B5EF4-FFF2-40B4-BE49-F238E27FC236}">
                <a16:creationId xmlns:a16="http://schemas.microsoft.com/office/drawing/2014/main" id="{4298A106-61F4-4E04-89E6-C783A15F37A4}"/>
              </a:ext>
            </a:extLst>
          </p:cNvPr>
          <p:cNvSpPr>
            <a:spLocks xmlns:a="http://schemas.openxmlformats.org/drawingml/2006/main" noGrp="1"/>
          </p:cNvSpPr>
          <p:nvPr/>
        </p:nvSpPr>
        <p:spPr>
          <a:xfrm xmlns:a="http://schemas.openxmlformats.org/drawingml/2006/main">
            <a:off x="6524625" y="2105025"/>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Safe requests proceed. Unsafe actions</a:t>
            </a:r>
          </a:p>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trigger the configured response.</a:t>
            </a:r>
          </a:p>
        </p:txBody>
      </p:sp>
      <p:sp>
        <p:nvSpPr>
          <p:cNvPr id="8" name="Real services, live changes">
            <a:extLst xmlns:a="http://schemas.openxmlformats.org/drawingml/2006/main">
              <a:ext uri="{FF2B5EF4-FFF2-40B4-BE49-F238E27FC236}">
                <a16:creationId xmlns:a16="http://schemas.microsoft.com/office/drawing/2014/main" id="{D4782963-CB97-4E4A-901D-3BA0A1155184}"/>
              </a:ext>
            </a:extLst>
          </p:cNvPr>
          <p:cNvSpPr>
            <a:spLocks xmlns:a="http://schemas.openxmlformats.org/drawingml/2006/main" noGrp="1"/>
          </p:cNvSpPr>
          <p:nvPr/>
        </p:nvSpPr>
        <p:spPr>
          <a:xfrm xmlns:a="http://schemas.openxmlformats.org/drawingml/2006/main">
            <a:off x="6524625" y="33813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1D20"/>
                </a:solidFill>
                <a:latin typeface="Arial"/>
                <a:ea typeface="Arial"/>
                <a:cs typeface="Arial"/>
              </a:defRPr>
            </a:pPr>
            <a:r>
              <a:rPr sz="2250" b="1">
                <a:solidFill>
                  <a:srgbClr val="171D20"/>
                </a:solidFill>
                <a:latin typeface="Arial"/>
                <a:ea typeface="Arial"/>
                <a:cs typeface="Arial"/>
              </a:rPr>
              <a:t>Real services, live changes</a:t>
            </a:r>
          </a:p>
        </p:txBody>
      </p:sp>
      <p:sp>
        <p:nvSpPr>
          <p:cNvPr id="9" name="HTTP flows, policy reload, Ghost Shell,&#10;API i">
            <a:extLst xmlns:a="http://schemas.openxmlformats.org/drawingml/2006/main">
              <a:ext uri="{FF2B5EF4-FFF2-40B4-BE49-F238E27FC236}">
                <a16:creationId xmlns:a16="http://schemas.microsoft.com/office/drawing/2014/main" id="{09B1F279-DEAF-45FE-B427-EFEAA3E8A3AD}"/>
              </a:ext>
            </a:extLst>
          </p:cNvPr>
          <p:cNvSpPr>
            <a:spLocks xmlns:a="http://schemas.openxmlformats.org/drawingml/2006/main" noGrp="1"/>
          </p:cNvSpPr>
          <p:nvPr/>
        </p:nvSpPr>
        <p:spPr>
          <a:xfrm xmlns:a="http://schemas.openxmlformats.org/drawingml/2006/main">
            <a:off x="6524625" y="3924300"/>
            <a:ext cx="4953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HTTP flows, policy reload, Ghost Shell,</a:t>
            </a:r>
          </a:p>
          <a:p xmlns:a="http://schemas.openxmlformats.org/drawingml/2006/main">
            <a:pPr algn="l">
              <a:defRPr sz="1950" b="0">
                <a:solidFill>
                  <a:srgbClr val="66716B"/>
                </a:solidFill>
                <a:latin typeface="Arial"/>
                <a:ea typeface="Arial"/>
                <a:cs typeface="Arial"/>
              </a:defRPr>
            </a:pPr>
            <a:r>
              <a:rPr sz="1950" b="0">
                <a:solidFill>
                  <a:srgbClr val="66716B"/>
                </a:solidFill>
                <a:latin typeface="Arial"/>
                <a:ea typeface="Arial"/>
                <a:cs typeface="Arial"/>
              </a:rPr>
              <a:t>API integrations and failure handling</a:t>
            </a:r>
          </a:p>
        </p:txBody>
      </p:sp>
      <p:sp>
        <p:nvSpPr>
          <p:cNvPr id="10" name="Try an ad-hoc prompt. Change a rule. Inspect ">
            <a:extLst xmlns:a="http://schemas.openxmlformats.org/drawingml/2006/main">
              <a:ext uri="{FF2B5EF4-FFF2-40B4-BE49-F238E27FC236}">
                <a16:creationId xmlns:a16="http://schemas.microsoft.com/office/drawing/2014/main" id="{2E4712D1-0B10-49B1-9DCB-08697C32F228}"/>
              </a:ext>
            </a:extLst>
          </p:cNvPr>
          <p:cNvSpPr>
            <a:spLocks xmlns:a="http://schemas.openxmlformats.org/drawingml/2006/main" noGrp="1"/>
          </p:cNvSpPr>
          <p:nvPr/>
        </p:nvSpPr>
        <p:spPr>
          <a:xfrm xmlns:a="http://schemas.openxmlformats.org/drawingml/2006/main">
            <a:off x="609600" y="5410200"/>
            <a:ext cx="10839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5735B"/>
                </a:solidFill>
                <a:latin typeface="Arial"/>
                <a:ea typeface="Arial"/>
                <a:cs typeface="Arial"/>
              </a:defRPr>
            </a:pPr>
            <a:r>
              <a:rPr sz="2175" b="1">
                <a:solidFill>
                  <a:srgbClr val="35735B"/>
                </a:solidFill>
                <a:latin typeface="Arial"/>
                <a:ea typeface="Arial"/>
                <a:cs typeface="Arial"/>
              </a:rPr>
              <a:t>Try an ad-hoc prompt. Change a rule. Inspect the decision and telemetry.</a:t>
            </a:r>
          </a:p>
        </p:txBody>
      </p:sp>
    </p:spTree>
    <p:extLst>
      <p:ext uri="{BB962C8B-B14F-4D97-AF65-F5344CB8AC3E}">
        <p14:creationId xmlns:p14="http://schemas.microsoft.com/office/powerpoint/2010/main" val="2119364187"/>
      </p:ext>
    </p:extLst>
  </p:cSld>
</p:sld>
</file>

<file path=ppt/slides/slide9.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7" name="MASQE today">
            <a:extLst xmlns:a="http://schemas.openxmlformats.org/drawingml/2006/main">
              <a:ext uri="{FF2B5EF4-FFF2-40B4-BE49-F238E27FC236}">
                <a16:creationId xmlns:a16="http://schemas.microsoft.com/office/drawing/2014/main" id="{F71F1932-5E79-4258-9DA8-2029B2FE3045}"/>
              </a:ext>
            </a:extLst>
          </p:cNvPr>
          <p:cNvSpPr>
            <a:spLocks xmlns:a="http://schemas.openxmlformats.org/drawingml/2006/main" noGrp="1"/>
          </p:cNvSpPr>
          <p:nvPr/>
        </p:nvSpPr>
        <p:spPr>
          <a:xfrm xmlns:a="http://schemas.openxmlformats.org/drawingml/2006/main">
            <a:off x="609600" y="457200"/>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6F6F1"/>
                </a:solidFill>
                <a:latin typeface="Arial"/>
                <a:ea typeface="Arial"/>
                <a:cs typeface="Arial"/>
              </a:defRPr>
            </a:pPr>
            <a:r>
              <a:rPr sz="3450" b="1">
                <a:solidFill>
                  <a:srgbClr val="F6F6F1"/>
                </a:solidFill>
                <a:latin typeface="Arial"/>
                <a:ea typeface="Arial"/>
                <a:cs typeface="Arial"/>
              </a:rPr>
              <a:t>MASQE today</a:t>
            </a:r>
          </a:p>
        </p:txBody>
      </p:sp>
      <p:sp>
        <p:nvSpPr>
          <p:cNvPr id="2" name="09">
            <a:extLst xmlns:a="http://schemas.openxmlformats.org/drawingml/2006/main">
              <a:ext uri="{FF2B5EF4-FFF2-40B4-BE49-F238E27FC236}">
                <a16:creationId xmlns:a16="http://schemas.microsoft.com/office/drawing/2014/main" id="{CB4B1559-DE6F-47B2-B2CF-8E4A26D3E9E2}"/>
              </a:ext>
            </a:extLst>
          </p:cNvPr>
          <p:cNvSpPr>
            <a:spLocks xmlns:a="http://schemas.openxmlformats.org/drawingml/2006/main" noGrp="1"/>
          </p:cNvSpPr>
          <p:nvPr/>
        </p:nvSpPr>
        <p:spPr>
          <a:xfrm xmlns:a="http://schemas.openxmlformats.org/drawingml/2006/main">
            <a:off x="1114425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E2E9DB"/>
                </a:solidFill>
                <a:latin typeface="Arial"/>
                <a:ea typeface="Arial"/>
                <a:cs typeface="Arial"/>
              </a:defRPr>
            </a:pPr>
            <a:r>
              <a:rPr sz="1200" b="0">
                <a:solidFill>
                  <a:srgbClr val="E2E9DB"/>
                </a:solidFill>
                <a:latin typeface="Arial"/>
                <a:ea typeface="Arial"/>
                <a:cs typeface="Arial"/>
              </a:rPr>
              <a:t>09</a:t>
            </a:r>
          </a:p>
        </p:txBody>
      </p:sp>
      <p:sp>
        <p:nvSpPr>
          <p:cNvPr id="3" name="A working local control layer">
            <a:extLst xmlns:a="http://schemas.openxmlformats.org/drawingml/2006/main">
              <a:ext uri="{FF2B5EF4-FFF2-40B4-BE49-F238E27FC236}">
                <a16:creationId xmlns:a16="http://schemas.microsoft.com/office/drawing/2014/main" id="{CFBD8D14-D646-4236-9907-1E261099F18D}"/>
              </a:ext>
            </a:extLst>
          </p:cNvPr>
          <p:cNvSpPr>
            <a:spLocks xmlns:a="http://schemas.openxmlformats.org/drawingml/2006/main" noGrp="1"/>
          </p:cNvSpPr>
          <p:nvPr/>
        </p:nvSpPr>
        <p:spPr>
          <a:xfrm xmlns:a="http://schemas.openxmlformats.org/drawingml/2006/main">
            <a:off x="609600" y="16097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6F6F1"/>
                </a:solidFill>
                <a:latin typeface="Arial"/>
                <a:ea typeface="Arial"/>
                <a:cs typeface="Arial"/>
              </a:defRPr>
            </a:pPr>
            <a:r>
              <a:rPr sz="3300" b="1">
                <a:solidFill>
                  <a:srgbClr val="F6F6F1"/>
                </a:solidFill>
                <a:latin typeface="Arial"/>
                <a:ea typeface="Arial"/>
                <a:cs typeface="Arial"/>
              </a:rPr>
              <a:t>A working local control layer</a:t>
            </a:r>
          </a:p>
        </p:txBody>
      </p:sp>
      <p:sp>
        <p:nvSpPr>
          <p:cNvPr id="4" name="Gateway and integrations&#10;Live policy, budgets">
            <a:extLst xmlns:a="http://schemas.openxmlformats.org/drawingml/2006/main">
              <a:ext uri="{FF2B5EF4-FFF2-40B4-BE49-F238E27FC236}">
                <a16:creationId xmlns:a16="http://schemas.microsoft.com/office/drawing/2014/main" id="{21EB66C9-D0B0-4394-A430-D295CB7960F7}"/>
              </a:ext>
            </a:extLst>
          </p:cNvPr>
          <p:cNvSpPr>
            <a:spLocks xmlns:a="http://schemas.openxmlformats.org/drawingml/2006/main" noGrp="1"/>
          </p:cNvSpPr>
          <p:nvPr/>
        </p:nvSpPr>
        <p:spPr>
          <a:xfrm xmlns:a="http://schemas.openxmlformats.org/drawingml/2006/main">
            <a:off x="609600" y="2771775"/>
            <a:ext cx="1028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2E9DB"/>
                </a:solidFill>
                <a:latin typeface="Arial"/>
                <a:ea typeface="Arial"/>
                <a:cs typeface="Arial"/>
              </a:defRPr>
            </a:pPr>
            <a:r>
              <a:rPr sz="2475" b="0">
                <a:solidFill>
                  <a:srgbClr val="E2E9DB"/>
                </a:solidFill>
                <a:latin typeface="Arial"/>
                <a:ea typeface="Arial"/>
                <a:cs typeface="Arial"/>
              </a:rPr>
              <a:t>Gateway and integrations</a:t>
            </a:r>
          </a:p>
          <a:p xmlns:a="http://schemas.openxmlformats.org/drawingml/2006/main">
            <a:pPr algn="l">
              <a:defRPr sz="2475" b="0">
                <a:solidFill>
                  <a:srgbClr val="E2E9DB"/>
                </a:solidFill>
                <a:latin typeface="Arial"/>
                <a:ea typeface="Arial"/>
                <a:cs typeface="Arial"/>
              </a:defRPr>
            </a:pPr>
            <a:r>
              <a:rPr sz="2475" b="0">
                <a:solidFill>
                  <a:srgbClr val="E2E9DB"/>
                </a:solidFill>
                <a:latin typeface="Arial"/>
                <a:ea typeface="Arial"/>
                <a:cs typeface="Arial"/>
              </a:rPr>
              <a:t>Live policy, budgets and reporting</a:t>
            </a:r>
          </a:p>
          <a:p xmlns:a="http://schemas.openxmlformats.org/drawingml/2006/main">
            <a:pPr algn="l">
              <a:defRPr sz="2475" b="0">
                <a:solidFill>
                  <a:srgbClr val="E2E9DB"/>
                </a:solidFill>
                <a:latin typeface="Arial"/>
                <a:ea typeface="Arial"/>
                <a:cs typeface="Arial"/>
              </a:defRPr>
            </a:pPr>
            <a:r>
              <a:rPr sz="2475" b="0">
                <a:solidFill>
                  <a:srgbClr val="E2E9DB"/>
                </a:solidFill>
                <a:latin typeface="Arial"/>
                <a:ea typeface="Arial"/>
                <a:cs typeface="Arial"/>
              </a:rPr>
              <a:t>Ghost Shell with traceable attack evidence</a:t>
            </a:r>
          </a:p>
        </p:txBody>
      </p:sp>
      <p:sp>
        <p:nvSpPr>
          <p:cNvPr id="5" name="Next: broader adversarial evaluation and prod">
            <a:extLst xmlns:a="http://schemas.openxmlformats.org/drawingml/2006/main">
              <a:ext uri="{FF2B5EF4-FFF2-40B4-BE49-F238E27FC236}">
                <a16:creationId xmlns:a16="http://schemas.microsoft.com/office/drawing/2014/main" id="{0F1AC171-7A3B-41FD-898C-ECEF8E0DC1CE}"/>
              </a:ext>
            </a:extLst>
          </p:cNvPr>
          <p:cNvSpPr>
            <a:spLocks xmlns:a="http://schemas.openxmlformats.org/drawingml/2006/main" noGrp="1"/>
          </p:cNvSpPr>
          <p:nvPr/>
        </p:nvSpPr>
        <p:spPr>
          <a:xfrm xmlns:a="http://schemas.openxmlformats.org/drawingml/2006/main">
            <a:off x="609600" y="5086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2E9DB"/>
                </a:solidFill>
                <a:latin typeface="Arial"/>
                <a:ea typeface="Arial"/>
                <a:cs typeface="Arial"/>
              </a:defRPr>
            </a:pPr>
            <a:r>
              <a:rPr sz="2025" b="0">
                <a:solidFill>
                  <a:srgbClr val="E2E9DB"/>
                </a:solidFill>
                <a:latin typeface="Arial"/>
                <a:ea typeface="Arial"/>
                <a:cs typeface="Arial"/>
              </a:rPr>
              <a:t>Next: broader adversarial evaluation and production hardening</a:t>
            </a:r>
          </a:p>
        </p:txBody>
      </p:sp>
      <p:sp>
        <p:nvSpPr>
          <p:cNvPr id="6" name="github.com/OskarBartoszyk/MASQE-HackYeah2026">
            <a:extLst xmlns:a="http://schemas.openxmlformats.org/drawingml/2006/main">
              <a:ext uri="{FF2B5EF4-FFF2-40B4-BE49-F238E27FC236}">
                <a16:creationId xmlns:a16="http://schemas.microsoft.com/office/drawing/2014/main" id="{F07F0638-4511-4313-A9BF-3B6220F76E0A}"/>
              </a:ext>
            </a:extLst>
          </p:cNvPr>
          <p:cNvSpPr>
            <a:spLocks xmlns:a="http://schemas.openxmlformats.org/drawingml/2006/main" noGrp="1"/>
          </p:cNvSpPr>
          <p:nvPr/>
        </p:nvSpPr>
        <p:spPr>
          <a:xfrm xmlns:a="http://schemas.openxmlformats.org/drawingml/2006/main">
            <a:off x="609600" y="6086475"/>
            <a:ext cx="1009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6F6F1"/>
                </a:solidFill>
                <a:latin typeface="Arial"/>
                <a:ea typeface="Arial"/>
                <a:cs typeface="Arial"/>
              </a:defRPr>
            </a:pPr>
            <a:r>
              <a:rPr sz="1650" b="0">
                <a:solidFill>
                  <a:srgbClr val="F6F6F1"/>
                </a:solidFill>
                <a:latin typeface="Arial"/>
                <a:ea typeface="Arial"/>
                <a:cs typeface="Arial"/>
              </a:rPr>
              <a:t>github.com/OskarBartoszyk/MASQE-HackYeah2026</a:t>
            </a:r>
          </a:p>
        </p:txBody>
      </p:sp>
    </p:spTree>
    <p:extLst>
      <p:ext uri="{BB962C8B-B14F-4D97-AF65-F5344CB8AC3E}">
        <p14:creationId xmlns:p14="http://schemas.microsoft.com/office/powerpoint/2010/main" val="2132444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2026-10-03T23:38:02.3230000Z</dcterms:created>
  <dcterms:modified xsi:type="dcterms:W3CDTF">2026-10-03T23:38:02.3230000Z</dcterms:modified>
</coreProperties>
</file>